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70.xml" ContentType="application/vnd.openxmlformats-officedocument.presentationml.slide+xml"/>
  <Override PartName="/ppt/slideLayouts/slideLayout21.xml" ContentType="application/vnd.openxmlformats-officedocument.presentationml.slideLayout+xml"/>
  <Override PartName="/ppt/slideMasters/slideMaster11.xml" ContentType="application/vnd.openxmlformats-officedocument.presentationml.slideMaster+xml"/>
  <Override PartName="/ppt/slideLayouts/slideLayout81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71.xml" ContentType="application/vnd.openxmlformats-officedocument.presentationml.slideLayout+xml"/>
  <Override PartName="/ppt/theme/theme11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9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2" r:id="rId1"/>
  </p:sldMasterIdLst>
  <p:notesMasterIdLst>
    <p:notesMasterId r:id="rId37"/>
  </p:notesMasterIdLst>
  <p:sldIdLst>
    <p:sldId id="256" r:id="rId2"/>
    <p:sldId id="257" r:id="rId3"/>
    <p:sldId id="294" r:id="rId4"/>
    <p:sldId id="259" r:id="rId5"/>
    <p:sldId id="260" r:id="rId6"/>
    <p:sldId id="264" r:id="rId7"/>
    <p:sldId id="265" r:id="rId8"/>
    <p:sldId id="261" r:id="rId9"/>
    <p:sldId id="262" r:id="rId10"/>
    <p:sldId id="267" r:id="rId11"/>
    <p:sldId id="301" r:id="rId12"/>
    <p:sldId id="303" r:id="rId13"/>
    <p:sldId id="304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268" r:id="rId22"/>
    <p:sldId id="302" r:id="rId23"/>
    <p:sldId id="313" r:id="rId24"/>
    <p:sldId id="272" r:id="rId25"/>
    <p:sldId id="271" r:id="rId26"/>
    <p:sldId id="314" r:id="rId27"/>
    <p:sldId id="318" r:id="rId28"/>
    <p:sldId id="315" r:id="rId29"/>
    <p:sldId id="320" r:id="rId30"/>
    <p:sldId id="316" r:id="rId31"/>
    <p:sldId id="322" r:id="rId32"/>
    <p:sldId id="323" r:id="rId33"/>
    <p:sldId id="321" r:id="rId34"/>
    <p:sldId id="317" r:id="rId35"/>
    <p:sldId id="299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16F08FA-F24F-43F3-8ACE-50147C311857}">
          <p14:sldIdLst>
            <p14:sldId id="256"/>
            <p14:sldId id="257"/>
          </p14:sldIdLst>
        </p14:section>
        <p14:section name="Title Intro" id="{E82798E4-814C-43A3-B081-C136501BA049}">
          <p14:sldIdLst>
            <p14:sldId id="294"/>
          </p14:sldIdLst>
        </p14:section>
        <p14:section name="Introduction" id="{3C690CA2-AC66-4AEB-BD05-F835262BAAAE}">
          <p14:sldIdLst>
            <p14:sldId id="259"/>
            <p14:sldId id="260"/>
          </p14:sldIdLst>
        </p14:section>
        <p14:section name="Objectives" id="{19C63447-BBB1-4F6B-A9B4-5EDC18BF3E36}">
          <p14:sldIdLst>
            <p14:sldId id="264"/>
            <p14:sldId id="265"/>
          </p14:sldIdLst>
        </p14:section>
        <p14:section name="litrature review" id="{7DF0E004-5348-461F-A230-66FFEC18497B}">
          <p14:sldIdLst>
            <p14:sldId id="261"/>
            <p14:sldId id="262"/>
          </p14:sldIdLst>
        </p14:section>
        <p14:section name="methodolody" id="{2F13CD1D-12EE-41AB-9F17-7928B811BADA}">
          <p14:sldIdLst>
            <p14:sldId id="267"/>
            <p14:sldId id="301"/>
          </p14:sldIdLst>
        </p14:section>
        <p14:section name="component" id="{4B99FBF1-A343-41CD-A1CE-07FED952E38B}">
          <p14:sldIdLst>
            <p14:sldId id="303"/>
          </p14:sldIdLst>
        </p14:section>
        <p14:section name="singly reinforced" id="{F5CED700-FA0E-427B-8AD3-13212F11498E}">
          <p14:sldIdLst>
            <p14:sldId id="304"/>
          </p14:sldIdLst>
        </p14:section>
        <p14:section name="doubly reinforced" id="{5BC0FD3F-47E8-4F88-80DD-46C48E3BC730}">
          <p14:sldIdLst/>
        </p14:section>
        <p14:section name="comparision" id="{05FCC0A9-B561-4BCA-B075-1BC2031234BA}">
          <p14:sldIdLst>
            <p14:sldId id="306"/>
            <p14:sldId id="307"/>
            <p14:sldId id="308"/>
            <p14:sldId id="309"/>
            <p14:sldId id="310"/>
            <p14:sldId id="311"/>
            <p14:sldId id="312"/>
          </p14:sldIdLst>
        </p14:section>
        <p14:section name="working" id="{9DF3DCE0-D072-42EC-AB01-5BC979529348}">
          <p14:sldIdLst>
            <p14:sldId id="268"/>
            <p14:sldId id="302"/>
            <p14:sldId id="313"/>
            <p14:sldId id="272"/>
            <p14:sldId id="271"/>
            <p14:sldId id="314"/>
          </p14:sldIdLst>
        </p14:section>
        <p14:section name="APPLICATIONS" id="{A1F4433C-0CDE-4E9F-8CB7-33F65E390843}">
          <p14:sldIdLst>
            <p14:sldId id="318"/>
            <p14:sldId id="315"/>
          </p14:sldIdLst>
        </p14:section>
        <p14:section name="LIMITATIONS" id="{6EC323FC-6177-47DB-B856-287DD18A6EB5}">
          <p14:sldIdLst>
            <p14:sldId id="320"/>
            <p14:sldId id="316"/>
          </p14:sldIdLst>
        </p14:section>
        <p14:section name="CONCLUSION" id="{F4B9077E-7727-4496-BE22-1002BF493FEE}">
          <p14:sldIdLst>
            <p14:sldId id="322"/>
            <p14:sldId id="323"/>
          </p14:sldIdLst>
        </p14:section>
        <p14:section name="REFERENCE" id="{DD2F9A43-5FC7-48AB-AB71-69F322513BC9}">
          <p14:sldIdLst>
            <p14:sldId id="321"/>
            <p14:sldId id="317"/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C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51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5AFEDE-A3DB-49E0-A20F-3093BC29221C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36D38B-3F6A-42A4-AF8E-EBEBC1246F4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7796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6D38B-3F6A-42A4-AF8E-EBEBC1246F4D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1000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6D38B-3F6A-42A4-AF8E-EBEBC1246F4D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4013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36D38B-3F6A-42A4-AF8E-EBEBC1246F4D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71616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829E0-C2BD-45CB-B00F-29E76E2C16F0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50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63ABC-8C0E-4C5E-9225-BBB300432F19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734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5BBE-33FD-4548-ABDA-CC60929AE6BE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536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F426D9-3A65-4290-9AD7-E780407EBDCA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9973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E54010-19E7-4E07-9530-7BE04901FBEA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346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57B14-C02E-45CF-896C-8EE4B4EA3025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413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CB3A5-E15F-457E-9E09-05B55386A9B1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938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0A290-0B26-46D3-BD45-8C6A28CD5892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330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CD1AF6-F9CD-46B8-B3B6-0D990095EAC8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956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432D3A-2E89-45AF-A2F1-AA204850BA92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5547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C4D7F-793D-4CF9-B660-4D13305D24AC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0588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453723-2370-47EB-87ED-95E7984FAD05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784944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651D81-CF03-461B-9EE8-E3C71A48D7D3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93216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734B30-3E94-442E-86E5-42DD06828997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2164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4787A-1201-4277-B7CF-BD3EDF891E3F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53787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2EC9-E918-4381-95DB-FBA92F0BAC09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69056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233621-249F-424A-8A48-0E1A715D59C1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50138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8366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5897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18052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49847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603228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286385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2391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65886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659583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354454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4782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1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71.xml"/><Relationship Id="rId12" Type="http://schemas.openxmlformats.org/officeDocument/2006/relationships/theme" Target="../theme/theme1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9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2537AD56-4474-44AC-ACEE-DEE96AAA99A8}" type="datetime1">
              <a:rPr lang="en-US" smtClean="0"/>
              <a:t>12/29/2025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99805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  <p:sldLayoutId id="2147483855" r:id="rId13"/>
    <p:sldLayoutId id="2147483856" r:id="rId14"/>
    <p:sldLayoutId id="2147483857" r:id="rId15"/>
    <p:sldLayoutId id="2147483858" r:id="rId16"/>
    <p:sldLayoutId id="2147483859" r:id="rId17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12/2/2025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88745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9.png"/><Relationship Id="rId18" Type="http://schemas.openxmlformats.org/officeDocument/2006/relationships/image" Target="../media/image12.png"/><Relationship Id="rId26" Type="http://schemas.openxmlformats.org/officeDocument/2006/relationships/slide" Target="slide29.xml"/><Relationship Id="rId21" Type="http://schemas.openxmlformats.org/officeDocument/2006/relationships/image" Target="../media/image13.png"/><Relationship Id="rId12" Type="http://schemas.openxmlformats.org/officeDocument/2006/relationships/image" Target="../media/image11.png"/><Relationship Id="rId17" Type="http://schemas.openxmlformats.org/officeDocument/2006/relationships/slide" Target="slide8.xml"/><Relationship Id="rId25" Type="http://schemas.openxmlformats.org/officeDocument/2006/relationships/image" Target="../media/image15.png"/><Relationship Id="rId33" Type="http://schemas.openxmlformats.org/officeDocument/2006/relationships/image" Target="../media/image17.png"/><Relationship Id="rId2" Type="http://schemas.openxmlformats.org/officeDocument/2006/relationships/image" Target="../media/image7.png"/><Relationship Id="rId16" Type="http://schemas.openxmlformats.org/officeDocument/2006/relationships/image" Target="../media/image12.png"/><Relationship Id="rId20" Type="http://schemas.openxmlformats.org/officeDocument/2006/relationships/slide" Target="slide10.xml"/><Relationship Id="rId29" Type="http://schemas.openxmlformats.org/officeDocument/2006/relationships/slide" Target="slide31.xml"/><Relationship Id="rId1" Type="http://schemas.openxmlformats.org/officeDocument/2006/relationships/slideLayout" Target="../slideLayouts/slideLayout2.xml"/><Relationship Id="rId11" Type="http://schemas.openxmlformats.org/officeDocument/2006/relationships/slide" Target="slide14.xml"/><Relationship Id="rId24" Type="http://schemas.openxmlformats.org/officeDocument/2006/relationships/image" Target="../media/image14.png"/><Relationship Id="rId32" Type="http://schemas.openxmlformats.org/officeDocument/2006/relationships/slide" Target="slide33.xml"/><Relationship Id="rId15" Type="http://schemas.openxmlformats.org/officeDocument/2006/relationships/image" Target="../media/image9.png"/><Relationship Id="rId23" Type="http://schemas.openxmlformats.org/officeDocument/2006/relationships/slide" Target="slide27.xml"/><Relationship Id="rId28" Type="http://schemas.openxmlformats.org/officeDocument/2006/relationships/image" Target="../media/image16.png"/><Relationship Id="rId10" Type="http://schemas.openxmlformats.org/officeDocument/2006/relationships/image" Target="../media/image8.png"/><Relationship Id="rId19" Type="http://schemas.openxmlformats.org/officeDocument/2006/relationships/image" Target="../media/image13.png"/><Relationship Id="rId31" Type="http://schemas.openxmlformats.org/officeDocument/2006/relationships/image" Target="../media/image17.png"/><Relationship Id="rId9" Type="http://schemas.openxmlformats.org/officeDocument/2006/relationships/slide" Target="slide4.xml"/><Relationship Id="rId14" Type="http://schemas.openxmlformats.org/officeDocument/2006/relationships/slide" Target="slide6.xml"/><Relationship Id="rId22" Type="http://schemas.openxmlformats.org/officeDocument/2006/relationships/image" Target="../media/image14.png"/><Relationship Id="rId27" Type="http://schemas.openxmlformats.org/officeDocument/2006/relationships/image" Target="../media/image15.png"/><Relationship Id="rId30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slide" Target="slide25.xml"/><Relationship Id="rId7" Type="http://schemas.openxmlformats.org/officeDocument/2006/relationships/image" Target="../media/image260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70.xml"/><Relationship Id="rId4" Type="http://schemas.openxmlformats.org/officeDocument/2006/relationships/image" Target="../media/image131.png"/><Relationship Id="rId9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Relationship Id="rId4" Type="http://schemas.openxmlformats.org/officeDocument/2006/relationships/audio" Target="../media/audio1.wav"/></Relationships>
</file>

<file path=ppt/slides/_rels/slide2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9121DF-AAC6-A0A7-96C4-2A7F88478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2971" y="466167"/>
            <a:ext cx="1106043" cy="1426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C1B225F-71D7-BC10-B541-77BE9863979B}"/>
              </a:ext>
            </a:extLst>
          </p:cNvPr>
          <p:cNvSpPr txBox="1"/>
          <p:nvPr/>
        </p:nvSpPr>
        <p:spPr>
          <a:xfrm>
            <a:off x="1709731" y="2072488"/>
            <a:ext cx="877252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Shri Dharmasthala Manjunatheshwara College of Engineering &amp;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Electronics and Communication Engineering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6963BA-944F-1B4A-0E94-B3CA41CBA3F9}"/>
              </a:ext>
            </a:extLst>
          </p:cNvPr>
          <p:cNvSpPr txBox="1"/>
          <p:nvPr/>
        </p:nvSpPr>
        <p:spPr>
          <a:xfrm>
            <a:off x="1080510" y="4814221"/>
            <a:ext cx="1003096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MINOR PROJECT - 1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(22UECL505)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3EEBB2-0C9F-65B6-5D8D-00B50055D94F}"/>
              </a:ext>
            </a:extLst>
          </p:cNvPr>
          <p:cNvSpPr txBox="1"/>
          <p:nvPr/>
        </p:nvSpPr>
        <p:spPr>
          <a:xfrm>
            <a:off x="651121" y="3754978"/>
            <a:ext cx="10889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GESTURE CONTROL ROBOTIC ARM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9A94E9-9187-87E2-7007-078BC166DB9E}"/>
              </a:ext>
            </a:extLst>
          </p:cNvPr>
          <p:cNvSpPr txBox="1"/>
          <p:nvPr/>
        </p:nvSpPr>
        <p:spPr>
          <a:xfrm>
            <a:off x="7315200" y="6319740"/>
            <a:ext cx="471487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Assistant Prof. Raghuram. K. M</a:t>
            </a: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E34F552-904D-6FF8-FC31-CA373AFC1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4867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randomBar dir="vert"/>
      </p:transition>
    </mc:Choice>
    <mc:Fallback xmlns="">
      <p:transition spd="slow">
        <p:randomBar dir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2275F14-0289-C5FC-2AF5-8EC065973C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152839"/>
              </p:ext>
            </p:extLst>
          </p:nvPr>
        </p:nvGraphicFramePr>
        <p:xfrm>
          <a:off x="1969675" y="2778228"/>
          <a:ext cx="8429625" cy="2257172"/>
        </p:xfrm>
        <a:graphic>
          <a:graphicData uri="http://schemas.openxmlformats.org/drawingml/2006/table">
            <a:tbl>
              <a:tblPr firstRow="1" firstCol="1" bandRow="1">
                <a:tableStyleId>{93296810-A885-4BE3-A3E7-6D5BEEA58F35}</a:tableStyleId>
              </a:tblPr>
              <a:tblGrid>
                <a:gridCol w="1426511">
                  <a:extLst>
                    <a:ext uri="{9D8B030D-6E8A-4147-A177-3AD203B41FA5}">
                      <a16:colId xmlns:a16="http://schemas.microsoft.com/office/drawing/2014/main" val="3885759385"/>
                    </a:ext>
                  </a:extLst>
                </a:gridCol>
                <a:gridCol w="4633875">
                  <a:extLst>
                    <a:ext uri="{9D8B030D-6E8A-4147-A177-3AD203B41FA5}">
                      <a16:colId xmlns:a16="http://schemas.microsoft.com/office/drawing/2014/main" val="4024545833"/>
                    </a:ext>
                  </a:extLst>
                </a:gridCol>
                <a:gridCol w="2369239">
                  <a:extLst>
                    <a:ext uri="{9D8B030D-6E8A-4147-A177-3AD203B41FA5}">
                      <a16:colId xmlns:a16="http://schemas.microsoft.com/office/drawing/2014/main" val="3438344282"/>
                    </a:ext>
                  </a:extLst>
                </a:gridCol>
              </a:tblGrid>
              <a:tr h="44434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Sl.NO</a:t>
                      </a:r>
                      <a:endParaRPr lang="en-IN" sz="1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770" marR="31750" marT="37465" marB="0"/>
                </a:tc>
                <a:tc>
                  <a:txBody>
                    <a:bodyPr/>
                    <a:lstStyle/>
                    <a:p>
                      <a:pPr marR="3302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STUDENTS </a:t>
                      </a:r>
                      <a:endParaRPr lang="en-IN" sz="18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770" marR="31750" marT="37465" marB="0"/>
                </a:tc>
                <a:tc>
                  <a:txBody>
                    <a:bodyPr/>
                    <a:lstStyle/>
                    <a:p>
                      <a:pPr marR="34925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USN </a:t>
                      </a:r>
                      <a:endParaRPr lang="en-IN" sz="18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770" marR="31750" marT="37465" marB="0"/>
                </a:tc>
                <a:extLst>
                  <a:ext uri="{0D108BD9-81ED-4DB2-BD59-A6C34878D82A}">
                    <a16:rowId xmlns:a16="http://schemas.microsoft.com/office/drawing/2014/main" val="442587872"/>
                  </a:ext>
                </a:extLst>
              </a:tr>
              <a:tr h="474355">
                <a:tc>
                  <a:txBody>
                    <a:bodyPr/>
                    <a:lstStyle/>
                    <a:p>
                      <a:pPr marR="3683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</a:t>
                      </a:r>
                      <a:endParaRPr lang="en-IN" sz="1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770" marR="31750" marT="37465" marB="0"/>
                </a:tc>
                <a:tc>
                  <a:txBody>
                    <a:bodyPr/>
                    <a:lstStyle/>
                    <a:p>
                      <a:pPr marR="34925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Sourab R</a:t>
                      </a:r>
                      <a:endParaRPr lang="en-IN" sz="1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770" marR="31750" marT="37465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2SD24EC409 </a:t>
                      </a:r>
                    </a:p>
                  </a:txBody>
                  <a:tcPr marL="64770" marR="31750" marT="37465" marB="0"/>
                </a:tc>
                <a:extLst>
                  <a:ext uri="{0D108BD9-81ED-4DB2-BD59-A6C34878D82A}">
                    <a16:rowId xmlns:a16="http://schemas.microsoft.com/office/drawing/2014/main" val="2588374314"/>
                  </a:ext>
                </a:extLst>
              </a:tr>
              <a:tr h="432023">
                <a:tc>
                  <a:txBody>
                    <a:bodyPr/>
                    <a:lstStyle/>
                    <a:p>
                      <a:pPr marR="3683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02</a:t>
                      </a:r>
                      <a:endParaRPr lang="en-IN" sz="18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770" marR="31750" marT="37465" marB="0"/>
                </a:tc>
                <a:tc>
                  <a:txBody>
                    <a:bodyPr/>
                    <a:lstStyle/>
                    <a:p>
                      <a:pPr marR="32385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Naveen</a:t>
                      </a:r>
                      <a:endParaRPr lang="en-IN" sz="1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770" marR="31750" marT="37465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2SD23EC066 </a:t>
                      </a:r>
                    </a:p>
                  </a:txBody>
                  <a:tcPr marL="64770" marR="31750" marT="37465" marB="0"/>
                </a:tc>
                <a:extLst>
                  <a:ext uri="{0D108BD9-81ED-4DB2-BD59-A6C34878D82A}">
                    <a16:rowId xmlns:a16="http://schemas.microsoft.com/office/drawing/2014/main" val="1376448670"/>
                  </a:ext>
                </a:extLst>
              </a:tr>
              <a:tr h="481781">
                <a:tc>
                  <a:txBody>
                    <a:bodyPr/>
                    <a:lstStyle/>
                    <a:p>
                      <a:pPr marR="3683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03</a:t>
                      </a:r>
                      <a:endParaRPr lang="en-IN" sz="18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770" marR="31750" marT="37465" marB="0"/>
                </a:tc>
                <a:tc>
                  <a:txBody>
                    <a:bodyPr/>
                    <a:lstStyle/>
                    <a:p>
                      <a:pPr marR="33655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hankar M T</a:t>
                      </a:r>
                    </a:p>
                  </a:txBody>
                  <a:tcPr marL="64770" marR="31750" marT="37465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2SD24EC406</a:t>
                      </a:r>
                    </a:p>
                  </a:txBody>
                  <a:tcPr marL="64770" marR="31750" marT="37465" marB="0"/>
                </a:tc>
                <a:extLst>
                  <a:ext uri="{0D108BD9-81ED-4DB2-BD59-A6C34878D82A}">
                    <a16:rowId xmlns:a16="http://schemas.microsoft.com/office/drawing/2014/main" val="101556559"/>
                  </a:ext>
                </a:extLst>
              </a:tr>
              <a:tr h="424667">
                <a:tc>
                  <a:txBody>
                    <a:bodyPr/>
                    <a:lstStyle/>
                    <a:p>
                      <a:pPr marR="3683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04</a:t>
                      </a:r>
                      <a:endParaRPr lang="en-IN" sz="18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770" marR="31750" marT="37465" marB="0"/>
                </a:tc>
                <a:tc>
                  <a:txBody>
                    <a:bodyPr/>
                    <a:lstStyle/>
                    <a:p>
                      <a:pPr marR="33655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</a:t>
                      </a:r>
                      <a:r>
                        <a:rPr lang="en-IN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inod patil</a:t>
                      </a:r>
                    </a:p>
                  </a:txBody>
                  <a:tcPr marL="64770" marR="31750" marT="37465" marB="0"/>
                </a:tc>
                <a:tc>
                  <a:txBody>
                    <a:bodyPr/>
                    <a:lstStyle/>
                    <a:p>
                      <a:pPr marL="68580"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2SD24EC413</a:t>
                      </a:r>
                      <a:endParaRPr lang="en-IN" sz="1800" b="0" kern="1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4770" marR="31750" marT="37465" marB="0"/>
                </a:tc>
                <a:extLst>
                  <a:ext uri="{0D108BD9-81ED-4DB2-BD59-A6C34878D82A}">
                    <a16:rowId xmlns:a16="http://schemas.microsoft.com/office/drawing/2014/main" val="293184888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AD1C0F2-5282-2962-572E-DE6F01009715}"/>
              </a:ext>
            </a:extLst>
          </p:cNvPr>
          <p:cNvSpPr txBox="1"/>
          <p:nvPr/>
        </p:nvSpPr>
        <p:spPr>
          <a:xfrm>
            <a:off x="739616" y="1131806"/>
            <a:ext cx="10889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OF MEMEBERS IN PROJECT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09113F-80FA-12B5-C95A-AC8483EC8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904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0000">
        <p:fade/>
      </p:transition>
    </mc:Choice>
    <mc:Fallback xmlns="">
      <p:transition spd="med" advTm="20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815A71-C820-6125-09A8-639832ED2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2CC085E-6422-8C97-AF22-4156C97BC808}"/>
              </a:ext>
            </a:extLst>
          </p:cNvPr>
          <p:cNvSpPr txBox="1"/>
          <p:nvPr/>
        </p:nvSpPr>
        <p:spPr>
          <a:xfrm>
            <a:off x="4320808" y="201293"/>
            <a:ext cx="3796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 </a:t>
            </a:r>
            <a:endParaRPr lang="en-IN" sz="2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8" name="Section Zoom 7">
                <a:extLst>
                  <a:ext uri="{FF2B5EF4-FFF2-40B4-BE49-F238E27FC236}">
                    <a16:creationId xmlns:a16="http://schemas.microsoft.com/office/drawing/2014/main" id="{51BE6E03-0B98-CF9B-75EF-78D30C0AF74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44299195"/>
                  </p:ext>
                </p:extLst>
              </p:nvPr>
            </p:nvGraphicFramePr>
            <p:xfrm>
              <a:off x="816769" y="1063416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3C690CA2-AC66-4AEB-BD05-F835262BAAAE}">
                    <psez:zmPr id="{0D84E5C1-5168-4CE9-9B92-5557CBD1BFAB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8" name="Section Zoom 7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51BE6E03-0B98-CF9B-75EF-78D30C0AF74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16769" y="1063416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2" name="Section Zoom 11">
                <a:extLst>
                  <a:ext uri="{FF2B5EF4-FFF2-40B4-BE49-F238E27FC236}">
                    <a16:creationId xmlns:a16="http://schemas.microsoft.com/office/drawing/2014/main" id="{25FA594F-CA80-381C-633D-DCABFDE3ACD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25207275"/>
                  </p:ext>
                </p:extLst>
              </p:nvPr>
            </p:nvGraphicFramePr>
            <p:xfrm>
              <a:off x="4572000" y="3013471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05FCC0A9-B561-4BCA-B075-1BC2031234BA}">
                    <psez:zmPr id="{D23FE693-3146-4362-ACA3-016996175724}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2" name="Section Zoom 11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25FA594F-CA80-381C-633D-DCABFDE3ACD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572000" y="3013471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1F2E426-7A24-F295-710F-9CEB0DB9C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7" name="Section Zoom 6">
                <a:extLst>
                  <a:ext uri="{FF2B5EF4-FFF2-40B4-BE49-F238E27FC236}">
                    <a16:creationId xmlns:a16="http://schemas.microsoft.com/office/drawing/2014/main" id="{FCBB152D-9A83-B3EE-3C2D-50C83EA5037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659490008"/>
                  </p:ext>
                </p:extLst>
              </p:nvPr>
            </p:nvGraphicFramePr>
            <p:xfrm>
              <a:off x="4572000" y="1088618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19C63447-BBB1-4F6B-A9B4-5EDC18BF3E36}">
                    <psez:zmPr id="{0E1F6412-294C-4431-B415-4F6D70529594}" transitionDur="1000">
                      <p166:blipFill xmlns:p166="http://schemas.microsoft.com/office/powerpoint/2016/6/main">
                        <a:blip r:embed="rId1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7" name="Section Zoom 6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FCBB152D-9A83-B3EE-3C2D-50C83EA5037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572000" y="1088618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0" name="Section Zoom 9">
                <a:extLst>
                  <a:ext uri="{FF2B5EF4-FFF2-40B4-BE49-F238E27FC236}">
                    <a16:creationId xmlns:a16="http://schemas.microsoft.com/office/drawing/2014/main" id="{1F0C7A55-4D12-E60B-B528-8AD98E2E550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91844963"/>
                  </p:ext>
                </p:extLst>
              </p:nvPr>
            </p:nvGraphicFramePr>
            <p:xfrm>
              <a:off x="8327231" y="1063416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7DF0E004-5348-461F-A230-66FFEC18497B}">
                    <psez:zmPr id="{556BA039-323A-4C11-B6C0-33E3FCE5077D}" transitionDur="1000">
                      <p166:blipFill xmlns:p166="http://schemas.microsoft.com/office/powerpoint/2016/6/main">
                        <a:blip r:embed="rId1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0" name="Section Zoom 9">
                <a:hlinkClick r:id="rId17" action="ppaction://hlinksldjump"/>
                <a:extLst>
                  <a:ext uri="{FF2B5EF4-FFF2-40B4-BE49-F238E27FC236}">
                    <a16:creationId xmlns:a16="http://schemas.microsoft.com/office/drawing/2014/main" id="{1F0C7A55-4D12-E60B-B528-8AD98E2E550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327231" y="1063416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4" name="Section Zoom 13">
                <a:extLst>
                  <a:ext uri="{FF2B5EF4-FFF2-40B4-BE49-F238E27FC236}">
                    <a16:creationId xmlns:a16="http://schemas.microsoft.com/office/drawing/2014/main" id="{569A27B6-A479-18F8-1E74-2F92F3FA7D45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14677310"/>
                  </p:ext>
                </p:extLst>
              </p:nvPr>
            </p:nvGraphicFramePr>
            <p:xfrm>
              <a:off x="816769" y="2987279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2F13CD1D-12EE-41AB-9F17-7928B811BADA}">
                    <psez:zmPr id="{F0189F63-8720-4C50-B0EC-129E03A3FD3C}" transitionDur="1000">
                      <p166:blipFill xmlns:p166="http://schemas.microsoft.com/office/powerpoint/2016/6/main">
                        <a:blip r:embed="rId1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4" name="Section Zoom 13">
                <a:hlinkClick r:id="rId20" action="ppaction://hlinksldjump"/>
                <a:extLst>
                  <a:ext uri="{FF2B5EF4-FFF2-40B4-BE49-F238E27FC236}">
                    <a16:creationId xmlns:a16="http://schemas.microsoft.com/office/drawing/2014/main" id="{569A27B6-A479-18F8-1E74-2F92F3FA7D4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16769" y="2987279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17" name="Section Zoom 16">
                <a:extLst>
                  <a:ext uri="{FF2B5EF4-FFF2-40B4-BE49-F238E27FC236}">
                    <a16:creationId xmlns:a16="http://schemas.microsoft.com/office/drawing/2014/main" id="{F1334825-B51D-30B5-ACDF-E9A968A0583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94030786"/>
                  </p:ext>
                </p:extLst>
              </p:nvPr>
            </p:nvGraphicFramePr>
            <p:xfrm>
              <a:off x="8327231" y="3000375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A1F4433C-0CDE-4E9F-8CB7-33F65E390843}">
                    <psez:zmPr id="{B86A9F1B-7B62-4F8A-9D2B-39A7BDB54745}" transitionDur="1000">
                      <p166:blipFill xmlns:p166="http://schemas.microsoft.com/office/powerpoint/2016/6/main">
                        <a:blip r:embed="rId2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17" name="Section Zoom 16">
                <a:hlinkClick r:id="rId23" action="ppaction://hlinksldjump"/>
                <a:extLst>
                  <a:ext uri="{FF2B5EF4-FFF2-40B4-BE49-F238E27FC236}">
                    <a16:creationId xmlns:a16="http://schemas.microsoft.com/office/drawing/2014/main" id="{F1334825-B51D-30B5-ACDF-E9A968A0583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327231" y="3000375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0" name="Section Zoom 19">
                <a:extLst>
                  <a:ext uri="{FF2B5EF4-FFF2-40B4-BE49-F238E27FC236}">
                    <a16:creationId xmlns:a16="http://schemas.microsoft.com/office/drawing/2014/main" id="{D6FF57B5-BB7F-C7F5-2520-2F24470BB10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863672676"/>
                  </p:ext>
                </p:extLst>
              </p:nvPr>
            </p:nvGraphicFramePr>
            <p:xfrm>
              <a:off x="816769" y="4937334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6EC323FC-6177-47DB-B856-287DD18A6EB5}">
                    <psez:zmPr id="{9A799D1A-C1C3-43B6-AF54-232A9DAF5CD8}" transitionDur="1000">
                      <p166:blipFill xmlns:p166="http://schemas.microsoft.com/office/powerpoint/2016/6/main">
                        <a:blip r:embed="rId2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0" name="Section Zoom 19">
                <a:hlinkClick r:id="rId26" action="ppaction://hlinksldjump"/>
                <a:extLst>
                  <a:ext uri="{FF2B5EF4-FFF2-40B4-BE49-F238E27FC236}">
                    <a16:creationId xmlns:a16="http://schemas.microsoft.com/office/drawing/2014/main" id="{D6FF57B5-BB7F-C7F5-2520-2F24470BB10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16769" y="4937334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3" name="Section Zoom 22">
                <a:extLst>
                  <a:ext uri="{FF2B5EF4-FFF2-40B4-BE49-F238E27FC236}">
                    <a16:creationId xmlns:a16="http://schemas.microsoft.com/office/drawing/2014/main" id="{75D95AC6-2948-5F53-C200-94645B2A65F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03122414"/>
                  </p:ext>
                </p:extLst>
              </p:nvPr>
            </p:nvGraphicFramePr>
            <p:xfrm>
              <a:off x="4567429" y="4942207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F4B9077E-7727-4496-BE22-1002BF493FEE}">
                    <psez:zmPr id="{D9124414-CAF3-4D64-BB97-11088BA2D64E}" transitionDur="1000">
                      <p166:blipFill xmlns:p166="http://schemas.microsoft.com/office/powerpoint/2016/6/main">
                        <a:blip r:embed="rId2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3" name="Section Zoom 22">
                <a:hlinkClick r:id="rId29" action="ppaction://hlinksldjump"/>
                <a:extLst>
                  <a:ext uri="{FF2B5EF4-FFF2-40B4-BE49-F238E27FC236}">
                    <a16:creationId xmlns:a16="http://schemas.microsoft.com/office/drawing/2014/main" id="{75D95AC6-2948-5F53-C200-94645B2A65F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567429" y="4942207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25" name="Section Zoom 24">
                <a:extLst>
                  <a:ext uri="{FF2B5EF4-FFF2-40B4-BE49-F238E27FC236}">
                    <a16:creationId xmlns:a16="http://schemas.microsoft.com/office/drawing/2014/main" id="{7360E2EC-8A76-41B5-5839-8BE0FFB10388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04717259"/>
                  </p:ext>
                </p:extLst>
              </p:nvPr>
            </p:nvGraphicFramePr>
            <p:xfrm>
              <a:off x="8327231" y="4942207"/>
              <a:ext cx="3048000" cy="1714500"/>
            </p:xfrm>
            <a:graphic>
              <a:graphicData uri="http://schemas.microsoft.com/office/powerpoint/2016/sectionzoom">
                <psez:sectionZm>
                  <psez:sectionZmObj sectionId="{DD2F9A43-5FC7-48AB-AB71-69F322513BC9}">
                    <psez:zmPr id="{CC6643DC-6CB7-46BA-A948-60C265BF6BF1}" transitionDur="1000">
                      <p166:blipFill xmlns:p166="http://schemas.microsoft.com/office/powerpoint/2016/6/main">
                        <a:blip r:embed="rId3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25" name="Section Zoom 24">
                <a:hlinkClick r:id="rId32" action="ppaction://hlinksldjump"/>
                <a:extLst>
                  <a:ext uri="{FF2B5EF4-FFF2-40B4-BE49-F238E27FC236}">
                    <a16:creationId xmlns:a16="http://schemas.microsoft.com/office/drawing/2014/main" id="{7360E2EC-8A76-41B5-5839-8BE0FFB1038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327231" y="4942207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62173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hlinkClick r:id="rId2" action="ppaction://hlinksldjump"/>
            <a:extLst>
              <a:ext uri="{FF2B5EF4-FFF2-40B4-BE49-F238E27FC236}">
                <a16:creationId xmlns:a16="http://schemas.microsoft.com/office/drawing/2014/main" id="{8B16C758-D4BE-BC39-14C0-BF2E6C610A71}"/>
              </a:ext>
            </a:extLst>
          </p:cNvPr>
          <p:cNvSpPr/>
          <p:nvPr/>
        </p:nvSpPr>
        <p:spPr>
          <a:xfrm>
            <a:off x="912018" y="619125"/>
            <a:ext cx="10367963" cy="5619750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3CB2E1-3CF6-FFA2-6F95-63120748BBE5}"/>
              </a:ext>
            </a:extLst>
          </p:cNvPr>
          <p:cNvSpPr txBox="1"/>
          <p:nvPr/>
        </p:nvSpPr>
        <p:spPr>
          <a:xfrm>
            <a:off x="651127" y="3013501"/>
            <a:ext cx="10889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5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18B5A8-E647-3F58-636B-D502339DE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644938"/>
      </p:ext>
    </p:extLst>
  </p:cSld>
  <p:clrMapOvr>
    <a:masterClrMapping/>
  </p:clrMapOvr>
  <p:transition spd="med" advTm="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hlinkClick r:id="rId2" action="ppaction://hlinksldjump"/>
            <a:extLst>
              <a:ext uri="{FF2B5EF4-FFF2-40B4-BE49-F238E27FC236}">
                <a16:creationId xmlns:a16="http://schemas.microsoft.com/office/drawing/2014/main" id="{E826F204-7D2F-1733-F048-FA2AFCEDD218}"/>
              </a:ext>
            </a:extLst>
          </p:cNvPr>
          <p:cNvSpPr/>
          <p:nvPr/>
        </p:nvSpPr>
        <p:spPr>
          <a:xfrm>
            <a:off x="-875819" y="-723418"/>
            <a:ext cx="13943638" cy="8304836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A10C07-EA14-9E56-E9DC-ED1C7F3AA01D}"/>
              </a:ext>
            </a:extLst>
          </p:cNvPr>
          <p:cNvSpPr txBox="1"/>
          <p:nvPr/>
        </p:nvSpPr>
        <p:spPr>
          <a:xfrm>
            <a:off x="651128" y="385445"/>
            <a:ext cx="10889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C4C8239-761E-D182-AB70-A74DB45FC7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0320" y="1203779"/>
            <a:ext cx="8458149" cy="4653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Robots are evolving from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pre-programmed machines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systems.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Gesture control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robots to respond to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human movements.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Gestures (like hand motions) act as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robot control.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Creates 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bridge between human behavior and machine response.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Improves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user-friendliness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communication.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(accelerometers, cameras) to detect gestures.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Microcontrollers/computers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 signals to move the robotic arm.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Applications: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Industrial automation, medical aid, prosthetics, VR.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experiment explores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gesture-based control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buttons or remotes.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Beneficial for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non-technical users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assistive applications.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40E226-F531-4C5E-6CA8-9B2625BBB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607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lumOff val="3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383269-1AD7-4B5C-BBBE-6033D7196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hlinkClick r:id="rId3" action="ppaction://hlinksldjump"/>
            <a:extLst>
              <a:ext uri="{FF2B5EF4-FFF2-40B4-BE49-F238E27FC236}">
                <a16:creationId xmlns:a16="http://schemas.microsoft.com/office/drawing/2014/main" id="{23F9B964-BF48-F951-1DB2-8A6B55C66816}"/>
              </a:ext>
            </a:extLst>
          </p:cNvPr>
          <p:cNvSpPr/>
          <p:nvPr/>
        </p:nvSpPr>
        <p:spPr>
          <a:xfrm>
            <a:off x="912018" y="619125"/>
            <a:ext cx="10367963" cy="5619750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BCF682-CC67-24F2-EB23-78BD73F2ADA7}"/>
              </a:ext>
            </a:extLst>
          </p:cNvPr>
          <p:cNvSpPr txBox="1"/>
          <p:nvPr/>
        </p:nvSpPr>
        <p:spPr>
          <a:xfrm>
            <a:off x="651127" y="2921168"/>
            <a:ext cx="10889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5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ECC501-7A63-132B-6A22-F092ACFC8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577025"/>
      </p:ext>
    </p:extLst>
  </p:cSld>
  <p:clrMapOvr>
    <a:masterClrMapping/>
  </p:clrMapOvr>
  <p:transition spd="med" advTm="0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1DB933-1E7E-9AC6-4EFE-18EE23BE3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hlinkClick r:id="rId2" action="ppaction://hlinksldjump"/>
            <a:extLst>
              <a:ext uri="{FF2B5EF4-FFF2-40B4-BE49-F238E27FC236}">
                <a16:creationId xmlns:a16="http://schemas.microsoft.com/office/drawing/2014/main" id="{0E436EC5-3F0E-9DC0-6515-575B1A5279F1}"/>
              </a:ext>
            </a:extLst>
          </p:cNvPr>
          <p:cNvSpPr/>
          <p:nvPr/>
        </p:nvSpPr>
        <p:spPr>
          <a:xfrm>
            <a:off x="-771647" y="-653970"/>
            <a:ext cx="13735294" cy="8165940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F5EF0A-A077-CEB2-A369-276CED44AD0F}"/>
              </a:ext>
            </a:extLst>
          </p:cNvPr>
          <p:cNvSpPr txBox="1"/>
          <p:nvPr/>
        </p:nvSpPr>
        <p:spPr>
          <a:xfrm>
            <a:off x="816768" y="1557375"/>
            <a:ext cx="10264187" cy="4661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design a robotic arm that responds accurately to human hand gestures.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develop a system that reduces the need for manual operation through gesture recognition.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utilize sensors (like accelerometers) for real-time gesture detection.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enhance human–machine interaction through intuitive and contactless control.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efficiency and precision in handling objects remotely.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create a cost-effective and user-friendly robotic control system.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demonstrate the integration of hardware and software for motion control.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explore applications in industries, healthcare, and hazardous environments.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minimize human effort in repetitive or risky tasks.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promote innovation in automation and robotics using gesture-based technology</a:t>
            </a:r>
            <a:r>
              <a:rPr lang="en-US" sz="20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A1BE4C-74FE-3F15-BDA6-138CD96246EE}"/>
              </a:ext>
            </a:extLst>
          </p:cNvPr>
          <p:cNvSpPr txBox="1"/>
          <p:nvPr/>
        </p:nvSpPr>
        <p:spPr>
          <a:xfrm>
            <a:off x="651127" y="619125"/>
            <a:ext cx="10889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2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4A2347-4F53-8FFB-98AB-6EAF8A80D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52544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lumOff val="3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E02D2F-DA05-98F2-8A74-8A9FF0BA4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hlinkClick r:id="rId2" action="ppaction://hlinksldjump"/>
            <a:extLst>
              <a:ext uri="{FF2B5EF4-FFF2-40B4-BE49-F238E27FC236}">
                <a16:creationId xmlns:a16="http://schemas.microsoft.com/office/drawing/2014/main" id="{969A0387-B181-01E9-2C17-9E4CE302BF50}"/>
              </a:ext>
            </a:extLst>
          </p:cNvPr>
          <p:cNvSpPr/>
          <p:nvPr/>
        </p:nvSpPr>
        <p:spPr>
          <a:xfrm>
            <a:off x="912018" y="619125"/>
            <a:ext cx="10367963" cy="5619750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B2D396-0D3F-A6ED-4FBB-4D72C261B41E}"/>
              </a:ext>
            </a:extLst>
          </p:cNvPr>
          <p:cNvSpPr txBox="1"/>
          <p:nvPr/>
        </p:nvSpPr>
        <p:spPr>
          <a:xfrm>
            <a:off x="651127" y="3013501"/>
            <a:ext cx="10889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4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10B901-EA71-D7B2-F590-1F21D76FF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80383"/>
      </p:ext>
    </p:extLst>
  </p:cSld>
  <p:clrMapOvr>
    <a:masterClrMapping/>
  </p:clrMapOvr>
  <p:transition spd="med" advTm="0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09B9DB-2500-EC6B-EED2-FE041A031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hlinkClick r:id="rId3" action="ppaction://hlinksldjump"/>
            <a:extLst>
              <a:ext uri="{FF2B5EF4-FFF2-40B4-BE49-F238E27FC236}">
                <a16:creationId xmlns:a16="http://schemas.microsoft.com/office/drawing/2014/main" id="{5842EF4D-3D36-C957-D65D-DD411EC1F0B0}"/>
              </a:ext>
            </a:extLst>
          </p:cNvPr>
          <p:cNvSpPr/>
          <p:nvPr/>
        </p:nvSpPr>
        <p:spPr>
          <a:xfrm>
            <a:off x="-771647" y="-653970"/>
            <a:ext cx="13735294" cy="8165940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F0976E5-7950-5D46-1A56-84E3156711BA}"/>
              </a:ext>
            </a:extLst>
          </p:cNvPr>
          <p:cNvSpPr txBox="1"/>
          <p:nvPr/>
        </p:nvSpPr>
        <p:spPr>
          <a:xfrm>
            <a:off x="816768" y="1298295"/>
            <a:ext cx="10558464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Earlier gesture-controlled systems used basic image-processing methods, which were slow and highly affected by lighting changes.</a:t>
            </a:r>
          </a:p>
          <a:p>
            <a:pPr marL="457200" indent="-4572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Researchers later introduced machine-learning–based hand detection, improving accuracy but requiring high computational power.</a:t>
            </a:r>
          </a:p>
          <a:p>
            <a:pPr marL="457200" indent="-4572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became a widely used framework because it provides fast and reliable hand-landmark detection suitable for real-time applications.</a:t>
            </a:r>
          </a:p>
          <a:p>
            <a:pPr marL="457200" indent="-4572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Studies show that </a:t>
            </a:r>
            <a:r>
              <a:rPr lang="en-U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MediaPipe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gesture recognition significantly improves gesture accuracy, stability, and responsiveness.</a:t>
            </a:r>
          </a:p>
          <a:p>
            <a:pPr marL="457200" indent="-4572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robotic arm projects often used buttons, joysticks, or wired controllers, which limited human–robot interaction</a:t>
            </a: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C0EABF-A067-DCB2-A662-58CD2D19ACEA}"/>
              </a:ext>
            </a:extLst>
          </p:cNvPr>
          <p:cNvSpPr txBox="1"/>
          <p:nvPr/>
        </p:nvSpPr>
        <p:spPr>
          <a:xfrm>
            <a:off x="651127" y="619125"/>
            <a:ext cx="10889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IN" sz="2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5FCEE5-4459-5106-1F2F-FC83E4FCA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0089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lumOff val="3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251DD9-11DC-F8CF-CABC-0C80892DC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hlinkClick r:id="rId2" action="ppaction://hlinksldjump"/>
            <a:extLst>
              <a:ext uri="{FF2B5EF4-FFF2-40B4-BE49-F238E27FC236}">
                <a16:creationId xmlns:a16="http://schemas.microsoft.com/office/drawing/2014/main" id="{91549BD0-EB99-85DF-9150-B7FA73633222}"/>
              </a:ext>
            </a:extLst>
          </p:cNvPr>
          <p:cNvSpPr/>
          <p:nvPr/>
        </p:nvSpPr>
        <p:spPr>
          <a:xfrm>
            <a:off x="912018" y="619125"/>
            <a:ext cx="10367963" cy="5619750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DCB92C-4541-ACE3-A50F-76D23CEFB67C}"/>
              </a:ext>
            </a:extLst>
          </p:cNvPr>
          <p:cNvSpPr txBox="1"/>
          <p:nvPr/>
        </p:nvSpPr>
        <p:spPr>
          <a:xfrm>
            <a:off x="651127" y="2921168"/>
            <a:ext cx="10889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5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3825DF-BC6B-EDFF-C75D-29A3AAE7E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6711475"/>
      </p:ext>
    </p:extLst>
  </p:cSld>
  <p:clrMapOvr>
    <a:masterClrMapping/>
  </p:clrMapOvr>
  <p:transition spd="med" advTm="0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B050AB-B993-0BE2-48AA-804E088AB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hlinkClick r:id="rId2" action="ppaction://hlinksldjump"/>
            <a:extLst>
              <a:ext uri="{FF2B5EF4-FFF2-40B4-BE49-F238E27FC236}">
                <a16:creationId xmlns:a16="http://schemas.microsoft.com/office/drawing/2014/main" id="{DB460143-B006-1936-D344-389F4B665DE6}"/>
              </a:ext>
            </a:extLst>
          </p:cNvPr>
          <p:cNvSpPr/>
          <p:nvPr/>
        </p:nvSpPr>
        <p:spPr>
          <a:xfrm>
            <a:off x="-771647" y="-653970"/>
            <a:ext cx="13735294" cy="8165940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2000" dirty="0">
              <a:solidFill>
                <a:schemeClr val="bg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F3505C-F15F-29C4-0A48-AC40F2785DF7}"/>
              </a:ext>
            </a:extLst>
          </p:cNvPr>
          <p:cNvSpPr txBox="1"/>
          <p:nvPr/>
        </p:nvSpPr>
        <p:spPr>
          <a:xfrm>
            <a:off x="407043" y="1658325"/>
            <a:ext cx="11377914" cy="41975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Identification: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Recognize the need for a contactless and intuitive method to control robotic arms using human gestures.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Develop a framework integrating a camera module, microcontroller, and robotic arm mechanism.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Image Capture: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 a webcam or camera to continuously capture real-time hand gesture images..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Identify key points of the hand, such as finger positions and palm orientation.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Gesture Recognition: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Implement machine learning or deep learning algorithms to classify gestures.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Signal Transmission: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Convert recognized gestures into corresponding control signals.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Arduino Interface: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Send these signals to the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control the robotic arm’s movements.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Testing and Calibration: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Test system accuracy, responsiveness, and adjust sensitivity parameters.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Analyze results for speed, precision, and reliability to ensure optimal control.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67E9C3C-3429-1188-A9BF-78038ED28815}"/>
              </a:ext>
            </a:extLst>
          </p:cNvPr>
          <p:cNvSpPr txBox="1"/>
          <p:nvPr/>
        </p:nvSpPr>
        <p:spPr>
          <a:xfrm>
            <a:off x="1875692" y="635778"/>
            <a:ext cx="84406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28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14E173-0CCB-D53B-3056-8A43A4893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11818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B0F52-79B3-F56D-E862-75625A9D3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17A664-8F69-B95B-3254-DE0A5BFCF592}"/>
              </a:ext>
            </a:extLst>
          </p:cNvPr>
          <p:cNvSpPr txBox="1"/>
          <p:nvPr/>
        </p:nvSpPr>
        <p:spPr>
          <a:xfrm>
            <a:off x="816767" y="471156"/>
            <a:ext cx="10558464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USED FOR THIS PROJECT :</a:t>
            </a:r>
          </a:p>
        </p:txBody>
      </p: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5" name="Section Zoom 4">
                <a:extLst>
                  <a:ext uri="{FF2B5EF4-FFF2-40B4-BE49-F238E27FC236}">
                    <a16:creationId xmlns:a16="http://schemas.microsoft.com/office/drawing/2014/main" id="{F21A271E-C4D1-1F23-16C9-AB7DBAC2898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569929921"/>
                  </p:ext>
                </p:extLst>
              </p:nvPr>
            </p:nvGraphicFramePr>
            <p:xfrm>
              <a:off x="3469640" y="2119164"/>
              <a:ext cx="5252718" cy="2954654"/>
            </p:xfrm>
            <a:graphic>
              <a:graphicData uri="http://schemas.microsoft.com/office/powerpoint/2016/sectionzoom">
                <psez:sectionZm>
                  <psez:sectionZmObj sectionId="{F5CED700-FA0E-427B-8AD3-13212F11498E}">
                    <psez:zmPr id="{4C530987-B5BE-4DFB-9517-9C8C2C0C49C2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252718" cy="295465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5" name="Section Zoom 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F21A271E-C4D1-1F23-16C9-AB7DBAC2898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69640" y="2119164"/>
                <a:ext cx="5252718" cy="295465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D229C95-CED3-A5A3-6609-3B12DF18F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840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Tm="0">
        <p159:morph option="byObject"/>
      </p:transition>
    </mc:Choice>
    <mc:Fallback xmlns="">
      <p:transition spd="med" advTm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lumOff val="3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E54EF3-BAE9-DAF9-732D-EAA753CD7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03E3BAA-23FC-B968-7BE3-476E86236041}"/>
              </a:ext>
            </a:extLst>
          </p:cNvPr>
          <p:cNvSpPr txBox="1"/>
          <p:nvPr/>
        </p:nvSpPr>
        <p:spPr>
          <a:xfrm>
            <a:off x="905720" y="1007691"/>
            <a:ext cx="6094070" cy="5120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44450" indent="-6350" algn="l">
              <a:lnSpc>
                <a:spcPct val="115000"/>
              </a:lnSpc>
              <a:spcAft>
                <a:spcPts val="1065"/>
              </a:spcAft>
              <a:tabLst>
                <a:tab pos="775970" algn="l"/>
              </a:tabLst>
            </a:pPr>
            <a:r>
              <a:rPr lang="en-IN" sz="2400" b="1" kern="1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Hardware Components</a:t>
            </a:r>
            <a:endParaRPr lang="en-IN" sz="2400" kern="1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44450" lvl="0" indent="-342900" algn="l">
              <a:lnSpc>
                <a:spcPct val="115000"/>
              </a:lnSpc>
              <a:spcAft>
                <a:spcPts val="106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775970" algn="l"/>
              </a:tabLst>
            </a:pPr>
            <a:r>
              <a:rPr lang="en-IN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3D Model Robotic Arm</a:t>
            </a:r>
          </a:p>
          <a:p>
            <a:pPr marL="342900" marR="44450" lvl="0" indent="-342900" algn="l">
              <a:lnSpc>
                <a:spcPct val="115000"/>
              </a:lnSpc>
              <a:spcAft>
                <a:spcPts val="106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775970" algn="l"/>
              </a:tabLst>
            </a:pPr>
            <a:r>
              <a:rPr lang="en-IN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Arduino Board (Arduino Uno)</a:t>
            </a:r>
          </a:p>
          <a:p>
            <a:pPr marL="342900" marR="44450" lvl="0" indent="-342900" algn="l">
              <a:lnSpc>
                <a:spcPct val="115000"/>
              </a:lnSpc>
              <a:spcAft>
                <a:spcPts val="106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775970" algn="l"/>
              </a:tabLst>
            </a:pPr>
            <a:r>
              <a:rPr lang="en-IN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Servo Motors (4)</a:t>
            </a:r>
          </a:p>
          <a:p>
            <a:pPr marL="342900" marR="44450" lvl="0" indent="-342900" algn="l">
              <a:lnSpc>
                <a:spcPct val="115000"/>
              </a:lnSpc>
              <a:spcAft>
                <a:spcPts val="106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775970" algn="l"/>
              </a:tabLst>
            </a:pPr>
            <a:r>
              <a:rPr lang="en-IN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Webcam or Android phone</a:t>
            </a:r>
          </a:p>
          <a:p>
            <a:pPr marL="342900" marR="44450" lvl="0" indent="-342900" algn="l">
              <a:lnSpc>
                <a:spcPct val="115000"/>
              </a:lnSpc>
              <a:spcAft>
                <a:spcPts val="106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775970" algn="l"/>
              </a:tabLst>
            </a:pPr>
            <a:r>
              <a:rPr lang="en-IN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Bluetooth Module </a:t>
            </a:r>
          </a:p>
          <a:p>
            <a:pPr marL="342900" marR="44450" lvl="0" indent="-342900" algn="l">
              <a:lnSpc>
                <a:spcPct val="115000"/>
              </a:lnSpc>
              <a:spcAft>
                <a:spcPts val="106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775970" algn="l"/>
              </a:tabLst>
            </a:pPr>
            <a:r>
              <a:rPr lang="en-IN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Power Supply / Batteries</a:t>
            </a:r>
          </a:p>
          <a:p>
            <a:pPr marL="342900" marR="44450" indent="-342900">
              <a:lnSpc>
                <a:spcPct val="115000"/>
              </a:lnSpc>
              <a:spcAft>
                <a:spcPts val="106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775970" algn="l"/>
              </a:tabLst>
            </a:pPr>
            <a:r>
              <a:rPr lang="en-IN" kern="100" dirty="0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USB Cable</a:t>
            </a:r>
          </a:p>
          <a:p>
            <a:pPr marL="342900" marR="44450" lvl="0" indent="-342900" algn="l">
              <a:lnSpc>
                <a:spcPct val="115000"/>
              </a:lnSpc>
              <a:spcAft>
                <a:spcPts val="106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775970" algn="l"/>
              </a:tabLst>
            </a:pPr>
            <a:r>
              <a:rPr lang="en-IN" kern="1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Jumper Wire</a:t>
            </a:r>
            <a:endParaRPr lang="en-IN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44450" lvl="0" indent="-342900" algn="l">
              <a:lnSpc>
                <a:spcPct val="115000"/>
              </a:lnSpc>
              <a:spcAft>
                <a:spcPts val="106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775970" algn="l"/>
              </a:tabLst>
            </a:pPr>
            <a:r>
              <a:rPr lang="en-IN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Mounting Hardware (screws, base)</a:t>
            </a:r>
          </a:p>
          <a:p>
            <a:pPr marL="6350" marR="44450" indent="-6350" algn="l">
              <a:lnSpc>
                <a:spcPct val="115000"/>
              </a:lnSpc>
              <a:spcAft>
                <a:spcPts val="1065"/>
              </a:spcAft>
              <a:tabLst>
                <a:tab pos="775970" algn="l"/>
              </a:tabLst>
            </a:pPr>
            <a:endParaRPr lang="en-IN" sz="2000" kern="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3A37C6-4142-D49E-1EF1-B014ED2E8525}"/>
              </a:ext>
            </a:extLst>
          </p:cNvPr>
          <p:cNvSpPr txBox="1"/>
          <p:nvPr/>
        </p:nvSpPr>
        <p:spPr>
          <a:xfrm>
            <a:off x="6096000" y="1007691"/>
            <a:ext cx="4221866" cy="3708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44450" indent="-6350" algn="l">
              <a:lnSpc>
                <a:spcPct val="115000"/>
              </a:lnSpc>
              <a:spcAft>
                <a:spcPts val="1065"/>
              </a:spcAft>
              <a:tabLst>
                <a:tab pos="775970" algn="l"/>
              </a:tabLst>
            </a:pPr>
            <a:r>
              <a:rPr lang="en-IN" sz="24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Software Components</a:t>
            </a:r>
            <a:endParaRPr lang="en-IN" sz="24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44450" lvl="0" indent="-342900" algn="l">
              <a:lnSpc>
                <a:spcPct val="115000"/>
              </a:lnSpc>
              <a:spcAft>
                <a:spcPts val="106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775970" algn="l"/>
              </a:tabLst>
            </a:pPr>
            <a:r>
              <a:rPr lang="en-IN" kern="100" dirty="0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Python 3.9</a:t>
            </a:r>
          </a:p>
          <a:p>
            <a:pPr marL="342900" marR="44450" lvl="0" indent="-342900" algn="l">
              <a:lnSpc>
                <a:spcPct val="115000"/>
              </a:lnSpc>
              <a:spcAft>
                <a:spcPts val="106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775970" algn="l"/>
              </a:tabLst>
            </a:pPr>
            <a:r>
              <a:rPr lang="en-IN" kern="100" dirty="0" err="1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MediaPipe</a:t>
            </a:r>
            <a:r>
              <a:rPr lang="en-IN" kern="100" dirty="0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0.9</a:t>
            </a:r>
          </a:p>
          <a:p>
            <a:pPr marL="342900" marR="44450" lvl="0" indent="-342900" algn="l">
              <a:lnSpc>
                <a:spcPct val="115000"/>
              </a:lnSpc>
              <a:spcAft>
                <a:spcPts val="106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775970" algn="l"/>
              </a:tabLst>
            </a:pPr>
            <a:r>
              <a:rPr lang="en-IN" kern="100" dirty="0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OpenCV Library</a:t>
            </a:r>
          </a:p>
          <a:p>
            <a:pPr marL="342900" marR="44450" lvl="0" indent="-342900" algn="l">
              <a:lnSpc>
                <a:spcPct val="115000"/>
              </a:lnSpc>
              <a:spcAft>
                <a:spcPts val="106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775970" algn="l"/>
              </a:tabLst>
            </a:pPr>
            <a:r>
              <a:rPr lang="en-IN" kern="100" dirty="0" err="1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PySerial</a:t>
            </a:r>
            <a:r>
              <a:rPr lang="en-IN" kern="100" dirty="0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Library</a:t>
            </a:r>
          </a:p>
          <a:p>
            <a:pPr marL="342900" marR="44450" lvl="0" indent="-342900" algn="l">
              <a:lnSpc>
                <a:spcPct val="115000"/>
              </a:lnSpc>
              <a:spcAft>
                <a:spcPts val="106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775970" algn="l"/>
              </a:tabLst>
            </a:pPr>
            <a:r>
              <a:rPr lang="en-IN" kern="100" dirty="0" err="1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DroidCam</a:t>
            </a:r>
            <a:r>
              <a:rPr lang="en-IN" kern="100" dirty="0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(optional)</a:t>
            </a:r>
          </a:p>
          <a:p>
            <a:pPr marL="6350" marR="44450" indent="-6350" algn="l">
              <a:lnSpc>
                <a:spcPct val="115000"/>
              </a:lnSpc>
              <a:spcAft>
                <a:spcPts val="1065"/>
              </a:spcAft>
              <a:tabLst>
                <a:tab pos="775970" algn="l"/>
              </a:tabLst>
            </a:pPr>
            <a:r>
              <a:rPr lang="en-IN" sz="1800" b="1" kern="100" dirty="0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2400" kern="100" dirty="0">
              <a:solidFill>
                <a:schemeClr val="tx1">
                  <a:lumMod val="9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6350" marR="44450" indent="-6350" algn="l">
              <a:lnSpc>
                <a:spcPct val="115000"/>
              </a:lnSpc>
              <a:spcAft>
                <a:spcPts val="1065"/>
              </a:spcAft>
              <a:tabLst>
                <a:tab pos="775970" algn="l"/>
              </a:tabLst>
            </a:pPr>
            <a:r>
              <a:rPr lang="en-IN" sz="1800" b="1" kern="100" dirty="0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IN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A75FD6-D16F-44F2-1A50-6DF54361C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6605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lumOff val="3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3C5C6B-DBEA-1191-1EE7-8BCACA033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hlinkClick r:id="rId2" action="ppaction://hlinksldjump"/>
            <a:extLst>
              <a:ext uri="{FF2B5EF4-FFF2-40B4-BE49-F238E27FC236}">
                <a16:creationId xmlns:a16="http://schemas.microsoft.com/office/drawing/2014/main" id="{55E66EB9-86EA-50E8-BAE8-84F709561909}"/>
              </a:ext>
            </a:extLst>
          </p:cNvPr>
          <p:cNvSpPr/>
          <p:nvPr/>
        </p:nvSpPr>
        <p:spPr>
          <a:xfrm>
            <a:off x="912018" y="619125"/>
            <a:ext cx="10367963" cy="5619750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D52F9A-D90E-17EC-18F2-9308533E76E4}"/>
              </a:ext>
            </a:extLst>
          </p:cNvPr>
          <p:cNvSpPr txBox="1"/>
          <p:nvPr/>
        </p:nvSpPr>
        <p:spPr>
          <a:xfrm>
            <a:off x="1559512" y="3013501"/>
            <a:ext cx="9072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COMPONENTS AND WORKING </a:t>
            </a:r>
            <a:endParaRPr lang="en-IN" sz="4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A273E7-2C5C-1554-8F6A-2A64FDD7D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84897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494690-DD04-A7B4-B633-B5CB296E73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hlinkClick r:id="rId2" action="ppaction://hlinksldjump"/>
            <a:extLst>
              <a:ext uri="{FF2B5EF4-FFF2-40B4-BE49-F238E27FC236}">
                <a16:creationId xmlns:a16="http://schemas.microsoft.com/office/drawing/2014/main" id="{CB4127F4-DF7E-1575-46B2-DF9E77592549}"/>
              </a:ext>
            </a:extLst>
          </p:cNvPr>
          <p:cNvSpPr/>
          <p:nvPr/>
        </p:nvSpPr>
        <p:spPr>
          <a:xfrm>
            <a:off x="-810072" y="-796894"/>
            <a:ext cx="13735294" cy="8165940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lowchart: Summing Junction 5">
            <a:extLst>
              <a:ext uri="{FF2B5EF4-FFF2-40B4-BE49-F238E27FC236}">
                <a16:creationId xmlns:a16="http://schemas.microsoft.com/office/drawing/2014/main" id="{C571B273-C91E-1FD8-ED91-E2DA65A8445D}"/>
              </a:ext>
            </a:extLst>
          </p:cNvPr>
          <p:cNvSpPr/>
          <p:nvPr/>
        </p:nvSpPr>
        <p:spPr>
          <a:xfrm rot="20272497">
            <a:off x="8621597" y="-284062"/>
            <a:ext cx="7426123" cy="7426123"/>
          </a:xfrm>
          <a:prstGeom prst="flowChartSummingJunction">
            <a:avLst/>
          </a:prstGeom>
          <a:solidFill>
            <a:schemeClr val="bg1">
              <a:lumMod val="65000"/>
              <a:lumOff val="35000"/>
            </a:schemeClr>
          </a:solidFill>
          <a:ln w="12700">
            <a:solidFill>
              <a:schemeClr val="tx1"/>
            </a:solidFill>
          </a:ln>
          <a:effectLst>
            <a:outerShdw blurRad="419100" dist="25400" dir="12600000" sx="103000" sy="103000" algn="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7" name="Flowchart: Process 16">
            <a:extLst>
              <a:ext uri="{FF2B5EF4-FFF2-40B4-BE49-F238E27FC236}">
                <a16:creationId xmlns:a16="http://schemas.microsoft.com/office/drawing/2014/main" id="{A133FFC9-7D14-C2BB-8D27-43D78B37AB06}"/>
              </a:ext>
            </a:extLst>
          </p:cNvPr>
          <p:cNvSpPr/>
          <p:nvPr/>
        </p:nvSpPr>
        <p:spPr>
          <a:xfrm rot="4072497">
            <a:off x="8646772" y="3300547"/>
            <a:ext cx="7424964" cy="258064"/>
          </a:xfrm>
          <a:prstGeom prst="flowChartProcess">
            <a:avLst/>
          </a:prstGeom>
          <a:ln>
            <a:solidFill>
              <a:schemeClr val="tx1"/>
            </a:solidFill>
          </a:ln>
          <a:effectLst>
            <a:outerShdw blurRad="317500" sx="107000" sy="107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6" name="Flowchart: Process 15">
            <a:extLst>
              <a:ext uri="{FF2B5EF4-FFF2-40B4-BE49-F238E27FC236}">
                <a16:creationId xmlns:a16="http://schemas.microsoft.com/office/drawing/2014/main" id="{2338D2F8-CBBA-1B78-03AF-F5CE295FCA7A}"/>
              </a:ext>
            </a:extLst>
          </p:cNvPr>
          <p:cNvSpPr/>
          <p:nvPr/>
        </p:nvSpPr>
        <p:spPr>
          <a:xfrm rot="20272497">
            <a:off x="8621597" y="3324982"/>
            <a:ext cx="7424964" cy="258064"/>
          </a:xfrm>
          <a:prstGeom prst="flowChartProcess">
            <a:avLst/>
          </a:prstGeom>
          <a:ln>
            <a:solidFill>
              <a:schemeClr val="tx1"/>
            </a:solidFill>
          </a:ln>
          <a:effectLst>
            <a:outerShdw blurRad="317500" sx="107000" sy="107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8" name="Flowchart: Process 7">
            <a:extLst>
              <a:ext uri="{FF2B5EF4-FFF2-40B4-BE49-F238E27FC236}">
                <a16:creationId xmlns:a16="http://schemas.microsoft.com/office/drawing/2014/main" id="{FDE3FCF0-6DB4-E4B5-BE60-C7BB7B6671B5}"/>
              </a:ext>
            </a:extLst>
          </p:cNvPr>
          <p:cNvSpPr/>
          <p:nvPr/>
        </p:nvSpPr>
        <p:spPr>
          <a:xfrm rot="1328539">
            <a:off x="8622176" y="3299968"/>
            <a:ext cx="7424964" cy="258064"/>
          </a:xfrm>
          <a:prstGeom prst="flowChartProcess">
            <a:avLst/>
          </a:prstGeom>
          <a:ln>
            <a:solidFill>
              <a:schemeClr val="tx1"/>
            </a:solidFill>
          </a:ln>
          <a:effectLst>
            <a:outerShdw blurRad="317500" sx="107000" sy="107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1" name="Flowchart: Process 10">
            <a:extLst>
              <a:ext uri="{FF2B5EF4-FFF2-40B4-BE49-F238E27FC236}">
                <a16:creationId xmlns:a16="http://schemas.microsoft.com/office/drawing/2014/main" id="{CB0BEAF5-AF30-0A56-6DF3-864DAF7ED007}"/>
              </a:ext>
            </a:extLst>
          </p:cNvPr>
          <p:cNvSpPr/>
          <p:nvPr/>
        </p:nvSpPr>
        <p:spPr>
          <a:xfrm rot="6782802">
            <a:off x="8646772" y="3324982"/>
            <a:ext cx="7424964" cy="258064"/>
          </a:xfrm>
          <a:prstGeom prst="flowChartProcess">
            <a:avLst/>
          </a:prstGeom>
          <a:ln>
            <a:solidFill>
              <a:schemeClr val="tx1"/>
            </a:solidFill>
          </a:ln>
          <a:effectLst>
            <a:outerShdw blurRad="317500" sx="107000" sy="107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7" name="Flowchart: Connector 6">
            <a:extLst>
              <a:ext uri="{FF2B5EF4-FFF2-40B4-BE49-F238E27FC236}">
                <a16:creationId xmlns:a16="http://schemas.microsoft.com/office/drawing/2014/main" id="{52709591-279F-4C3C-5847-CAA519E628E7}"/>
              </a:ext>
            </a:extLst>
          </p:cNvPr>
          <p:cNvSpPr/>
          <p:nvPr/>
        </p:nvSpPr>
        <p:spPr>
          <a:xfrm rot="20272497">
            <a:off x="10340967" y="1435308"/>
            <a:ext cx="3987382" cy="3987382"/>
          </a:xfrm>
          <a:prstGeom prst="flowChartConnector">
            <a:avLst/>
          </a:prstGeom>
          <a:effectLst>
            <a:outerShdw blurRad="304800" sx="110000" sy="110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B41208-9E43-6434-A341-95B45AD0DB90}"/>
              </a:ext>
            </a:extLst>
          </p:cNvPr>
          <p:cNvSpPr txBox="1"/>
          <p:nvPr/>
        </p:nvSpPr>
        <p:spPr>
          <a:xfrm>
            <a:off x="8079302" y="3192404"/>
            <a:ext cx="2753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UNO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5EE8D6E-AD4C-6EEB-61F4-2FB30AC65C46}"/>
              </a:ext>
            </a:extLst>
          </p:cNvPr>
          <p:cNvSpPr txBox="1"/>
          <p:nvPr/>
        </p:nvSpPr>
        <p:spPr>
          <a:xfrm>
            <a:off x="651127" y="619125"/>
            <a:ext cx="10889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5F9F93-4FFE-55F9-7162-B5BCB9A9F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511" y="2318901"/>
            <a:ext cx="4220603" cy="300011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1802089-A780-5636-159E-3CFAAB9AE4CF}"/>
              </a:ext>
            </a:extLst>
          </p:cNvPr>
          <p:cNvSpPr txBox="1"/>
          <p:nvPr/>
        </p:nvSpPr>
        <p:spPr>
          <a:xfrm>
            <a:off x="9636369" y="1142345"/>
            <a:ext cx="13464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E5F99E-D8AA-75E7-B903-F61FFAFA2D15}"/>
              </a:ext>
            </a:extLst>
          </p:cNvPr>
          <p:cNvSpPr txBox="1"/>
          <p:nvPr/>
        </p:nvSpPr>
        <p:spPr>
          <a:xfrm>
            <a:off x="8787235" y="1069646"/>
            <a:ext cx="2753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SERVO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441F9C-8552-050D-228F-7C29745706BC}"/>
              </a:ext>
            </a:extLst>
          </p:cNvPr>
          <p:cNvSpPr txBox="1"/>
          <p:nvPr/>
        </p:nvSpPr>
        <p:spPr>
          <a:xfrm>
            <a:off x="11816861" y="211015"/>
            <a:ext cx="138130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HC-05 BLUETOOTH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C6E081-43A2-4783-A04B-B5703362D9A8}"/>
              </a:ext>
            </a:extLst>
          </p:cNvPr>
          <p:cNvSpPr txBox="1"/>
          <p:nvPr/>
        </p:nvSpPr>
        <p:spPr>
          <a:xfrm>
            <a:off x="9736891" y="5084466"/>
            <a:ext cx="1096047" cy="6311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80C433-AABA-CEAD-6C7F-9D6CBB156B4F}"/>
              </a:ext>
            </a:extLst>
          </p:cNvPr>
          <p:cNvSpPr txBox="1"/>
          <p:nvPr/>
        </p:nvSpPr>
        <p:spPr>
          <a:xfrm>
            <a:off x="14077672" y="942290"/>
            <a:ext cx="1223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CABLES </a:t>
            </a:r>
          </a:p>
          <a:p>
            <a:r>
              <a:rPr lang="en-US" dirty="0"/>
              <a:t>     N</a:t>
            </a:r>
          </a:p>
          <a:p>
            <a:r>
              <a:rPr lang="en-US" dirty="0"/>
              <a:t>  WIRES</a:t>
            </a:r>
            <a:endParaRPr lang="en-IN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BE11B6-52A4-5EE0-6A80-50BD034D6827}"/>
              </a:ext>
            </a:extLst>
          </p:cNvPr>
          <p:cNvSpPr txBox="1"/>
          <p:nvPr/>
        </p:nvSpPr>
        <p:spPr>
          <a:xfrm>
            <a:off x="14449530" y="2944167"/>
            <a:ext cx="13722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MEARM</a:t>
            </a:r>
          </a:p>
          <a:p>
            <a:r>
              <a:rPr lang="en-US" dirty="0"/>
              <a:t>ROBOTIC ARM</a:t>
            </a:r>
            <a:endParaRPr lang="en-IN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05716E-8DC4-F898-BF92-7D188236647C}"/>
              </a:ext>
            </a:extLst>
          </p:cNvPr>
          <p:cNvSpPr txBox="1"/>
          <p:nvPr/>
        </p:nvSpPr>
        <p:spPr>
          <a:xfrm>
            <a:off x="13931355" y="5084466"/>
            <a:ext cx="1101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WEBCAM</a:t>
            </a:r>
            <a:endParaRPr lang="en-IN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AE60351-67C9-16F8-0583-5B2DA2C69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7677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01950F-4803-29EE-CDE2-061EF0DED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hlinkClick r:id="rId2" action="ppaction://hlinksldjump"/>
            <a:extLst>
              <a:ext uri="{FF2B5EF4-FFF2-40B4-BE49-F238E27FC236}">
                <a16:creationId xmlns:a16="http://schemas.microsoft.com/office/drawing/2014/main" id="{42126F88-67D3-54D4-A7E6-07678AB0F09F}"/>
              </a:ext>
            </a:extLst>
          </p:cNvPr>
          <p:cNvSpPr/>
          <p:nvPr/>
        </p:nvSpPr>
        <p:spPr>
          <a:xfrm>
            <a:off x="-771647" y="-653970"/>
            <a:ext cx="13735294" cy="8165940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lowchart: Summing Junction 5">
            <a:extLst>
              <a:ext uri="{FF2B5EF4-FFF2-40B4-BE49-F238E27FC236}">
                <a16:creationId xmlns:a16="http://schemas.microsoft.com/office/drawing/2014/main" id="{E9150E85-6217-1E52-55C0-0F0007EFD6FF}"/>
              </a:ext>
            </a:extLst>
          </p:cNvPr>
          <p:cNvSpPr/>
          <p:nvPr/>
        </p:nvSpPr>
        <p:spPr>
          <a:xfrm rot="17587515">
            <a:off x="8620007" y="-289826"/>
            <a:ext cx="7426123" cy="7426123"/>
          </a:xfrm>
          <a:prstGeom prst="flowChartSummingJunction">
            <a:avLst/>
          </a:prstGeom>
          <a:solidFill>
            <a:schemeClr val="bg1">
              <a:lumMod val="65000"/>
              <a:lumOff val="35000"/>
            </a:schemeClr>
          </a:solidFill>
          <a:ln w="12700">
            <a:solidFill>
              <a:schemeClr val="tx1"/>
            </a:solidFill>
          </a:ln>
          <a:effectLst>
            <a:outerShdw blurRad="419100" dist="25400" dir="12600000" sx="103000" sy="103000" algn="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7" name="Flowchart: Process 16">
            <a:extLst>
              <a:ext uri="{FF2B5EF4-FFF2-40B4-BE49-F238E27FC236}">
                <a16:creationId xmlns:a16="http://schemas.microsoft.com/office/drawing/2014/main" id="{6D8242A4-EC03-E211-0BA7-41B123F873E3}"/>
              </a:ext>
            </a:extLst>
          </p:cNvPr>
          <p:cNvSpPr/>
          <p:nvPr/>
        </p:nvSpPr>
        <p:spPr>
          <a:xfrm rot="1387515">
            <a:off x="8646772" y="3300547"/>
            <a:ext cx="7424964" cy="258064"/>
          </a:xfrm>
          <a:prstGeom prst="flowChartProcess">
            <a:avLst/>
          </a:prstGeom>
          <a:ln>
            <a:solidFill>
              <a:schemeClr val="tx1"/>
            </a:solidFill>
          </a:ln>
          <a:effectLst>
            <a:outerShdw blurRad="317500" sx="107000" sy="107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6" name="Flowchart: Process 15">
            <a:extLst>
              <a:ext uri="{FF2B5EF4-FFF2-40B4-BE49-F238E27FC236}">
                <a16:creationId xmlns:a16="http://schemas.microsoft.com/office/drawing/2014/main" id="{536BC38B-CEC5-35EF-A55A-E544C3F8285A}"/>
              </a:ext>
            </a:extLst>
          </p:cNvPr>
          <p:cNvSpPr/>
          <p:nvPr/>
        </p:nvSpPr>
        <p:spPr>
          <a:xfrm rot="17587515">
            <a:off x="8621597" y="3324982"/>
            <a:ext cx="7424964" cy="258064"/>
          </a:xfrm>
          <a:prstGeom prst="flowChartProcess">
            <a:avLst/>
          </a:prstGeom>
          <a:ln>
            <a:solidFill>
              <a:schemeClr val="tx1"/>
            </a:solidFill>
          </a:ln>
          <a:effectLst>
            <a:outerShdw blurRad="317500" sx="107000" sy="107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8" name="Flowchart: Process 7">
            <a:extLst>
              <a:ext uri="{FF2B5EF4-FFF2-40B4-BE49-F238E27FC236}">
                <a16:creationId xmlns:a16="http://schemas.microsoft.com/office/drawing/2014/main" id="{E35C6620-B34F-5650-D458-23F32C8295D8}"/>
              </a:ext>
            </a:extLst>
          </p:cNvPr>
          <p:cNvSpPr/>
          <p:nvPr/>
        </p:nvSpPr>
        <p:spPr>
          <a:xfrm rot="20243557">
            <a:off x="8622176" y="3299968"/>
            <a:ext cx="7424964" cy="258064"/>
          </a:xfrm>
          <a:prstGeom prst="flowChartProcess">
            <a:avLst/>
          </a:prstGeom>
          <a:ln>
            <a:solidFill>
              <a:schemeClr val="tx1"/>
            </a:solidFill>
          </a:ln>
          <a:effectLst>
            <a:outerShdw blurRad="317500" sx="107000" sy="107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1" name="Flowchart: Process 10">
            <a:extLst>
              <a:ext uri="{FF2B5EF4-FFF2-40B4-BE49-F238E27FC236}">
                <a16:creationId xmlns:a16="http://schemas.microsoft.com/office/drawing/2014/main" id="{AB89330C-D4CE-6382-8CC5-DE46B7CD6A69}"/>
              </a:ext>
            </a:extLst>
          </p:cNvPr>
          <p:cNvSpPr/>
          <p:nvPr/>
        </p:nvSpPr>
        <p:spPr>
          <a:xfrm rot="4097820">
            <a:off x="8646772" y="3324982"/>
            <a:ext cx="7424964" cy="258064"/>
          </a:xfrm>
          <a:prstGeom prst="flowChartProcess">
            <a:avLst/>
          </a:prstGeom>
          <a:ln>
            <a:solidFill>
              <a:schemeClr val="tx1"/>
            </a:solidFill>
          </a:ln>
          <a:effectLst>
            <a:outerShdw blurRad="317500" sx="107000" sy="107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7" name="Flowchart: Connector 6">
            <a:extLst>
              <a:ext uri="{FF2B5EF4-FFF2-40B4-BE49-F238E27FC236}">
                <a16:creationId xmlns:a16="http://schemas.microsoft.com/office/drawing/2014/main" id="{9422399A-CB4C-1BDB-0284-BB20A46E235F}"/>
              </a:ext>
            </a:extLst>
          </p:cNvPr>
          <p:cNvSpPr/>
          <p:nvPr/>
        </p:nvSpPr>
        <p:spPr>
          <a:xfrm rot="17587515">
            <a:off x="10340967" y="1435308"/>
            <a:ext cx="3987382" cy="3987382"/>
          </a:xfrm>
          <a:prstGeom prst="flowChartConnector">
            <a:avLst/>
          </a:prstGeom>
          <a:effectLst>
            <a:outerShdw blurRad="304800" sx="110000" sy="110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8E13D5-36EF-CB22-8494-FE080920604B}"/>
              </a:ext>
            </a:extLst>
          </p:cNvPr>
          <p:cNvSpPr txBox="1"/>
          <p:nvPr/>
        </p:nvSpPr>
        <p:spPr>
          <a:xfrm>
            <a:off x="8141635" y="3052737"/>
            <a:ext cx="2753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SERVO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D87487-22D7-D930-0986-11F4BA4BCD1F}"/>
              </a:ext>
            </a:extLst>
          </p:cNvPr>
          <p:cNvSpPr txBox="1"/>
          <p:nvPr/>
        </p:nvSpPr>
        <p:spPr>
          <a:xfrm rot="2430205">
            <a:off x="9018585" y="978737"/>
            <a:ext cx="2753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HC-05 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BLUETOOTH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B3208D-B8AD-AE26-C61F-6AC4446602A5}"/>
              </a:ext>
            </a:extLst>
          </p:cNvPr>
          <p:cNvSpPr txBox="1"/>
          <p:nvPr/>
        </p:nvSpPr>
        <p:spPr>
          <a:xfrm rot="5400000">
            <a:off x="11282318" y="172076"/>
            <a:ext cx="23267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CABLE AND WIRES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E79CDDC-9DE0-B77B-93BA-2224DAC262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9484" y="1259010"/>
            <a:ext cx="4650664" cy="3845552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5C4C867-0F08-E195-59D5-29AD27DE1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A16541-8A60-CA78-FE94-A07C8F2893E1}"/>
              </a:ext>
            </a:extLst>
          </p:cNvPr>
          <p:cNvSpPr txBox="1"/>
          <p:nvPr/>
        </p:nvSpPr>
        <p:spPr>
          <a:xfrm rot="19093769">
            <a:off x="8862590" y="5063146"/>
            <a:ext cx="2753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UNO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11158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D1877-DC13-08B7-790F-266543979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hlinkClick r:id="rId3" action="ppaction://hlinksldjump"/>
            <a:extLst>
              <a:ext uri="{FF2B5EF4-FFF2-40B4-BE49-F238E27FC236}">
                <a16:creationId xmlns:a16="http://schemas.microsoft.com/office/drawing/2014/main" id="{9B97F173-4D00-41C7-DD44-29341A5CD2BF}"/>
              </a:ext>
            </a:extLst>
          </p:cNvPr>
          <p:cNvSpPr/>
          <p:nvPr/>
        </p:nvSpPr>
        <p:spPr>
          <a:xfrm>
            <a:off x="-2607280" y="-201347"/>
            <a:ext cx="13735294" cy="8165940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lowchart: Summing Junction 5">
            <a:extLst>
              <a:ext uri="{FF2B5EF4-FFF2-40B4-BE49-F238E27FC236}">
                <a16:creationId xmlns:a16="http://schemas.microsoft.com/office/drawing/2014/main" id="{5073E965-3E21-80B6-AB39-6E43354EB21B}"/>
              </a:ext>
            </a:extLst>
          </p:cNvPr>
          <p:cNvSpPr/>
          <p:nvPr/>
        </p:nvSpPr>
        <p:spPr>
          <a:xfrm rot="15022173">
            <a:off x="8621597" y="-284062"/>
            <a:ext cx="7426123" cy="7426123"/>
          </a:xfrm>
          <a:prstGeom prst="flowChartSummingJunction">
            <a:avLst/>
          </a:prstGeom>
          <a:solidFill>
            <a:schemeClr val="bg1">
              <a:lumMod val="65000"/>
              <a:lumOff val="35000"/>
            </a:schemeClr>
          </a:solidFill>
          <a:ln w="12700">
            <a:solidFill>
              <a:schemeClr val="tx1"/>
            </a:solidFill>
          </a:ln>
          <a:effectLst>
            <a:outerShdw blurRad="419100" dist="25400" dir="12600000" sx="103000" sy="103000" algn="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7" name="Flowchart: Process 16">
            <a:extLst>
              <a:ext uri="{FF2B5EF4-FFF2-40B4-BE49-F238E27FC236}">
                <a16:creationId xmlns:a16="http://schemas.microsoft.com/office/drawing/2014/main" id="{90E4A559-C998-6DFC-DD50-6CE466DBEF98}"/>
              </a:ext>
            </a:extLst>
          </p:cNvPr>
          <p:cNvSpPr/>
          <p:nvPr/>
        </p:nvSpPr>
        <p:spPr>
          <a:xfrm rot="20422173">
            <a:off x="8621596" y="3295959"/>
            <a:ext cx="7424964" cy="258064"/>
          </a:xfrm>
          <a:prstGeom prst="flowChartProcess">
            <a:avLst/>
          </a:prstGeom>
          <a:ln>
            <a:solidFill>
              <a:schemeClr val="tx1"/>
            </a:solidFill>
          </a:ln>
          <a:effectLst>
            <a:outerShdw blurRad="317500" sx="107000" sy="107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6" name="Flowchart: Process 15">
            <a:extLst>
              <a:ext uri="{FF2B5EF4-FFF2-40B4-BE49-F238E27FC236}">
                <a16:creationId xmlns:a16="http://schemas.microsoft.com/office/drawing/2014/main" id="{276CDD8B-2D52-3A6D-80F9-A00E0D981F9D}"/>
              </a:ext>
            </a:extLst>
          </p:cNvPr>
          <p:cNvSpPr/>
          <p:nvPr/>
        </p:nvSpPr>
        <p:spPr>
          <a:xfrm rot="15022173">
            <a:off x="8621597" y="3324982"/>
            <a:ext cx="7424964" cy="258064"/>
          </a:xfrm>
          <a:prstGeom prst="flowChartProcess">
            <a:avLst/>
          </a:prstGeom>
          <a:ln>
            <a:solidFill>
              <a:schemeClr val="tx1"/>
            </a:solidFill>
          </a:ln>
          <a:effectLst>
            <a:outerShdw blurRad="317500" sx="107000" sy="107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8" name="Flowchart: Process 7">
            <a:extLst>
              <a:ext uri="{FF2B5EF4-FFF2-40B4-BE49-F238E27FC236}">
                <a16:creationId xmlns:a16="http://schemas.microsoft.com/office/drawing/2014/main" id="{DDD9D34E-D1B7-E2CB-0E73-0F9F791968C2}"/>
              </a:ext>
            </a:extLst>
          </p:cNvPr>
          <p:cNvSpPr/>
          <p:nvPr/>
        </p:nvSpPr>
        <p:spPr>
          <a:xfrm rot="17678215">
            <a:off x="8622176" y="3299968"/>
            <a:ext cx="7424964" cy="258064"/>
          </a:xfrm>
          <a:prstGeom prst="flowChartProcess">
            <a:avLst/>
          </a:prstGeom>
          <a:ln>
            <a:solidFill>
              <a:schemeClr val="tx1"/>
            </a:solidFill>
          </a:ln>
          <a:effectLst>
            <a:outerShdw blurRad="317500" sx="107000" sy="107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1" name="Flowchart: Process 10">
            <a:extLst>
              <a:ext uri="{FF2B5EF4-FFF2-40B4-BE49-F238E27FC236}">
                <a16:creationId xmlns:a16="http://schemas.microsoft.com/office/drawing/2014/main" id="{7E572D71-EC6F-9B07-2BDD-8A1DD221E681}"/>
              </a:ext>
            </a:extLst>
          </p:cNvPr>
          <p:cNvSpPr/>
          <p:nvPr/>
        </p:nvSpPr>
        <p:spPr>
          <a:xfrm rot="1532478">
            <a:off x="8621596" y="3299967"/>
            <a:ext cx="7424964" cy="258064"/>
          </a:xfrm>
          <a:prstGeom prst="flowChartProcess">
            <a:avLst/>
          </a:prstGeom>
          <a:ln>
            <a:solidFill>
              <a:schemeClr val="tx1"/>
            </a:solidFill>
          </a:ln>
          <a:effectLst>
            <a:outerShdw blurRad="317500" sx="107000" sy="107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7" name="Flowchart: Connector 6">
            <a:extLst>
              <a:ext uri="{FF2B5EF4-FFF2-40B4-BE49-F238E27FC236}">
                <a16:creationId xmlns:a16="http://schemas.microsoft.com/office/drawing/2014/main" id="{AC4BC19C-274F-D6FE-849B-17A8EA8F8A26}"/>
              </a:ext>
            </a:extLst>
          </p:cNvPr>
          <p:cNvSpPr/>
          <p:nvPr/>
        </p:nvSpPr>
        <p:spPr>
          <a:xfrm rot="15022173">
            <a:off x="10340967" y="1435308"/>
            <a:ext cx="3987382" cy="3987382"/>
          </a:xfrm>
          <a:prstGeom prst="flowChartConnector">
            <a:avLst/>
          </a:prstGeom>
          <a:effectLst>
            <a:outerShdw blurRad="304800" sx="110000" sy="110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372DFE-E616-A6D7-B6FD-398746B21C90}"/>
              </a:ext>
            </a:extLst>
          </p:cNvPr>
          <p:cNvSpPr txBox="1"/>
          <p:nvPr/>
        </p:nvSpPr>
        <p:spPr>
          <a:xfrm rot="16200000">
            <a:off x="11156316" y="5905446"/>
            <a:ext cx="20713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Arduino 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uno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317FDA-762C-5960-2851-AD6DFCE08E52}"/>
              </a:ext>
            </a:extLst>
          </p:cNvPr>
          <p:cNvSpPr txBox="1"/>
          <p:nvPr/>
        </p:nvSpPr>
        <p:spPr>
          <a:xfrm>
            <a:off x="8076949" y="3083443"/>
            <a:ext cx="2753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HC-05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BLUETOOTH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CE11087-4243-BC51-CD61-913901079092}"/>
              </a:ext>
            </a:extLst>
          </p:cNvPr>
          <p:cNvSpPr txBox="1"/>
          <p:nvPr/>
        </p:nvSpPr>
        <p:spPr>
          <a:xfrm rot="2773103">
            <a:off x="9101172" y="849044"/>
            <a:ext cx="27536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 Arm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5A95E60-74D6-E744-2D63-3E144CC9BB82}"/>
              </a:ext>
            </a:extLst>
          </p:cNvPr>
          <p:cNvSpPr txBox="1"/>
          <p:nvPr/>
        </p:nvSpPr>
        <p:spPr>
          <a:xfrm rot="5400000">
            <a:off x="11088830" y="366603"/>
            <a:ext cx="2753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webcam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D2AAD6-15A4-00F4-FBC9-831476CB9C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73367" y="1264542"/>
            <a:ext cx="4672484" cy="467248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CF0E37-50AE-077C-D900-D1A98C0ED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0B90A2-B28E-03DB-52C6-68790FB33F6E}"/>
              </a:ext>
            </a:extLst>
          </p:cNvPr>
          <p:cNvSpPr txBox="1"/>
          <p:nvPr/>
        </p:nvSpPr>
        <p:spPr>
          <a:xfrm rot="19232831">
            <a:off x="8768045" y="4927472"/>
            <a:ext cx="27536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SERVO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4239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F957D-CC87-FAAD-D631-1B3FF2846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Summing Junction 5">
            <a:extLst>
              <a:ext uri="{FF2B5EF4-FFF2-40B4-BE49-F238E27FC236}">
                <a16:creationId xmlns:a16="http://schemas.microsoft.com/office/drawing/2014/main" id="{4C770939-92B0-6001-02D0-9606C79FCBB0}"/>
              </a:ext>
            </a:extLst>
          </p:cNvPr>
          <p:cNvSpPr/>
          <p:nvPr/>
        </p:nvSpPr>
        <p:spPr>
          <a:xfrm rot="12177401">
            <a:off x="8621597" y="-284062"/>
            <a:ext cx="7426123" cy="7426123"/>
          </a:xfrm>
          <a:prstGeom prst="flowChartSummingJunction">
            <a:avLst/>
          </a:prstGeom>
          <a:solidFill>
            <a:schemeClr val="bg1">
              <a:lumMod val="65000"/>
              <a:lumOff val="35000"/>
            </a:schemeClr>
          </a:solidFill>
          <a:ln w="12700">
            <a:solidFill>
              <a:schemeClr val="tx1"/>
            </a:solidFill>
          </a:ln>
          <a:effectLst>
            <a:outerShdw blurRad="419100" dist="25400" dir="12600000" sx="103000" sy="103000" algn="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7" name="Flowchart: Process 16">
            <a:extLst>
              <a:ext uri="{FF2B5EF4-FFF2-40B4-BE49-F238E27FC236}">
                <a16:creationId xmlns:a16="http://schemas.microsoft.com/office/drawing/2014/main" id="{26F8B8FD-E83F-AF29-A803-12A2CBF37439}"/>
              </a:ext>
            </a:extLst>
          </p:cNvPr>
          <p:cNvSpPr/>
          <p:nvPr/>
        </p:nvSpPr>
        <p:spPr>
          <a:xfrm rot="17577401">
            <a:off x="8646772" y="3300547"/>
            <a:ext cx="7424964" cy="258064"/>
          </a:xfrm>
          <a:prstGeom prst="flowChartProcess">
            <a:avLst/>
          </a:prstGeom>
          <a:ln>
            <a:solidFill>
              <a:schemeClr val="tx1"/>
            </a:solidFill>
          </a:ln>
          <a:effectLst>
            <a:outerShdw blurRad="317500" sx="107000" sy="107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6" name="Flowchart: Process 15">
            <a:extLst>
              <a:ext uri="{FF2B5EF4-FFF2-40B4-BE49-F238E27FC236}">
                <a16:creationId xmlns:a16="http://schemas.microsoft.com/office/drawing/2014/main" id="{05E6E6D2-ADB8-46AB-2BA5-3795AF59040D}"/>
              </a:ext>
            </a:extLst>
          </p:cNvPr>
          <p:cNvSpPr/>
          <p:nvPr/>
        </p:nvSpPr>
        <p:spPr>
          <a:xfrm rot="12177401">
            <a:off x="8621597" y="3324982"/>
            <a:ext cx="7424964" cy="258064"/>
          </a:xfrm>
          <a:prstGeom prst="flowChartProcess">
            <a:avLst/>
          </a:prstGeom>
          <a:ln>
            <a:solidFill>
              <a:schemeClr val="tx1"/>
            </a:solidFill>
          </a:ln>
          <a:effectLst>
            <a:outerShdw blurRad="317500" sx="107000" sy="107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8" name="Flowchart: Process 7">
            <a:extLst>
              <a:ext uri="{FF2B5EF4-FFF2-40B4-BE49-F238E27FC236}">
                <a16:creationId xmlns:a16="http://schemas.microsoft.com/office/drawing/2014/main" id="{4E609588-AF69-8428-93A3-614B843AFA21}"/>
              </a:ext>
            </a:extLst>
          </p:cNvPr>
          <p:cNvSpPr/>
          <p:nvPr/>
        </p:nvSpPr>
        <p:spPr>
          <a:xfrm rot="14833443">
            <a:off x="8622176" y="3299968"/>
            <a:ext cx="7424964" cy="258064"/>
          </a:xfrm>
          <a:prstGeom prst="flowChartProcess">
            <a:avLst/>
          </a:prstGeom>
          <a:ln>
            <a:solidFill>
              <a:schemeClr val="tx1"/>
            </a:solidFill>
          </a:ln>
          <a:effectLst>
            <a:outerShdw blurRad="317500" sx="107000" sy="107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1" name="Flowchart: Process 10">
            <a:extLst>
              <a:ext uri="{FF2B5EF4-FFF2-40B4-BE49-F238E27FC236}">
                <a16:creationId xmlns:a16="http://schemas.microsoft.com/office/drawing/2014/main" id="{2D218E85-443A-3465-1DC0-7C9BBF47AA99}"/>
              </a:ext>
            </a:extLst>
          </p:cNvPr>
          <p:cNvSpPr/>
          <p:nvPr/>
        </p:nvSpPr>
        <p:spPr>
          <a:xfrm rot="20287706">
            <a:off x="8646772" y="3324982"/>
            <a:ext cx="7424964" cy="258064"/>
          </a:xfrm>
          <a:prstGeom prst="flowChartProcess">
            <a:avLst/>
          </a:prstGeom>
          <a:ln>
            <a:solidFill>
              <a:schemeClr val="tx1"/>
            </a:solidFill>
          </a:ln>
          <a:effectLst>
            <a:outerShdw blurRad="317500" sx="107000" sy="107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7" name="Flowchart: Connector 6">
            <a:extLst>
              <a:ext uri="{FF2B5EF4-FFF2-40B4-BE49-F238E27FC236}">
                <a16:creationId xmlns:a16="http://schemas.microsoft.com/office/drawing/2014/main" id="{E401DAAF-3602-FE9E-77C6-E2260B3025A0}"/>
              </a:ext>
            </a:extLst>
          </p:cNvPr>
          <p:cNvSpPr/>
          <p:nvPr/>
        </p:nvSpPr>
        <p:spPr>
          <a:xfrm rot="20272497">
            <a:off x="10340967" y="1435308"/>
            <a:ext cx="3987382" cy="3987382"/>
          </a:xfrm>
          <a:prstGeom prst="flowChartConnector">
            <a:avLst/>
          </a:prstGeom>
          <a:effectLst>
            <a:outerShdw blurRad="304800" sx="110000" sy="110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6E801F-D7F0-9F4D-DC49-D9F19A114928}"/>
              </a:ext>
            </a:extLst>
          </p:cNvPr>
          <p:cNvSpPr txBox="1"/>
          <p:nvPr/>
        </p:nvSpPr>
        <p:spPr>
          <a:xfrm rot="16200000">
            <a:off x="10957261" y="5934825"/>
            <a:ext cx="27536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Servo 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motor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10A205-DBC3-B0F5-FEDE-D819FB2B5C8B}"/>
              </a:ext>
            </a:extLst>
          </p:cNvPr>
          <p:cNvSpPr txBox="1"/>
          <p:nvPr/>
        </p:nvSpPr>
        <p:spPr>
          <a:xfrm>
            <a:off x="8066340" y="3190997"/>
            <a:ext cx="2753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Cables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EEF87E9-BCA6-BA90-166D-C971D46C845C}"/>
              </a:ext>
            </a:extLst>
          </p:cNvPr>
          <p:cNvSpPr txBox="1"/>
          <p:nvPr/>
        </p:nvSpPr>
        <p:spPr>
          <a:xfrm rot="2498817">
            <a:off x="9468876" y="845481"/>
            <a:ext cx="19814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 Arm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7C1FD8-B159-3F6E-FCB1-17B0071E22CB}"/>
              </a:ext>
            </a:extLst>
          </p:cNvPr>
          <p:cNvSpPr txBox="1"/>
          <p:nvPr/>
        </p:nvSpPr>
        <p:spPr>
          <a:xfrm rot="5400000">
            <a:off x="10988572" y="322584"/>
            <a:ext cx="2753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webcam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2FFAB3-6E2C-1968-901E-9CB179BFB4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2272" y="1893490"/>
            <a:ext cx="3231169" cy="323116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02BFD1C-CAF1-2100-1BF2-3FEB4DB3E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81310" y="2087360"/>
            <a:ext cx="3231169" cy="3037299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2E2794-5E0C-010C-B3EB-ECCAE0E17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E50828-A931-874D-DE27-54EFFA1A760C}"/>
              </a:ext>
            </a:extLst>
          </p:cNvPr>
          <p:cNvSpPr txBox="1"/>
          <p:nvPr/>
        </p:nvSpPr>
        <p:spPr>
          <a:xfrm rot="19007984">
            <a:off x="8896339" y="5061438"/>
            <a:ext cx="2753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HC-05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BLUETOOTH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51398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29C32-003E-8941-7DCE-E4223DD76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Summing Junction 5">
            <a:extLst>
              <a:ext uri="{FF2B5EF4-FFF2-40B4-BE49-F238E27FC236}">
                <a16:creationId xmlns:a16="http://schemas.microsoft.com/office/drawing/2014/main" id="{E7734263-9C18-A1EB-FE96-8556E609F2F1}"/>
              </a:ext>
            </a:extLst>
          </p:cNvPr>
          <p:cNvSpPr/>
          <p:nvPr/>
        </p:nvSpPr>
        <p:spPr>
          <a:xfrm rot="9457359">
            <a:off x="8621597" y="-284062"/>
            <a:ext cx="7426123" cy="7426123"/>
          </a:xfrm>
          <a:prstGeom prst="flowChartSummingJunction">
            <a:avLst/>
          </a:prstGeom>
          <a:solidFill>
            <a:schemeClr val="bg1">
              <a:lumMod val="65000"/>
              <a:lumOff val="35000"/>
            </a:schemeClr>
          </a:solidFill>
          <a:ln w="12700">
            <a:solidFill>
              <a:schemeClr val="tx1"/>
            </a:solidFill>
          </a:ln>
          <a:effectLst>
            <a:outerShdw blurRad="419100" dist="25400" dir="12600000" sx="103000" sy="103000" algn="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7" name="Flowchart: Process 16">
            <a:extLst>
              <a:ext uri="{FF2B5EF4-FFF2-40B4-BE49-F238E27FC236}">
                <a16:creationId xmlns:a16="http://schemas.microsoft.com/office/drawing/2014/main" id="{0E3329DE-DBBD-C671-32A7-CF58143AF923}"/>
              </a:ext>
            </a:extLst>
          </p:cNvPr>
          <p:cNvSpPr/>
          <p:nvPr/>
        </p:nvSpPr>
        <p:spPr>
          <a:xfrm rot="14857359">
            <a:off x="8646772" y="3300547"/>
            <a:ext cx="7424964" cy="258064"/>
          </a:xfrm>
          <a:prstGeom prst="flowChartProcess">
            <a:avLst/>
          </a:prstGeom>
          <a:ln>
            <a:solidFill>
              <a:schemeClr val="tx1"/>
            </a:solidFill>
          </a:ln>
          <a:effectLst>
            <a:outerShdw blurRad="317500" sx="107000" sy="107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6" name="Flowchart: Process 15">
            <a:extLst>
              <a:ext uri="{FF2B5EF4-FFF2-40B4-BE49-F238E27FC236}">
                <a16:creationId xmlns:a16="http://schemas.microsoft.com/office/drawing/2014/main" id="{D6504AC9-E388-6217-A725-DBEE21BB5D0A}"/>
              </a:ext>
            </a:extLst>
          </p:cNvPr>
          <p:cNvSpPr/>
          <p:nvPr/>
        </p:nvSpPr>
        <p:spPr>
          <a:xfrm rot="9457359">
            <a:off x="8621597" y="3324982"/>
            <a:ext cx="7424964" cy="258064"/>
          </a:xfrm>
          <a:prstGeom prst="flowChartProcess">
            <a:avLst/>
          </a:prstGeom>
          <a:ln>
            <a:solidFill>
              <a:schemeClr val="tx1"/>
            </a:solidFill>
          </a:ln>
          <a:effectLst>
            <a:outerShdw blurRad="317500" sx="107000" sy="107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8" name="Flowchart: Process 7">
            <a:extLst>
              <a:ext uri="{FF2B5EF4-FFF2-40B4-BE49-F238E27FC236}">
                <a16:creationId xmlns:a16="http://schemas.microsoft.com/office/drawing/2014/main" id="{D8261985-409A-C4E3-4E0C-567D3F6412C1}"/>
              </a:ext>
            </a:extLst>
          </p:cNvPr>
          <p:cNvSpPr/>
          <p:nvPr/>
        </p:nvSpPr>
        <p:spPr>
          <a:xfrm rot="12113401">
            <a:off x="8622176" y="3299968"/>
            <a:ext cx="7424964" cy="258064"/>
          </a:xfrm>
          <a:prstGeom prst="flowChartProcess">
            <a:avLst/>
          </a:prstGeom>
          <a:ln>
            <a:solidFill>
              <a:schemeClr val="tx1"/>
            </a:solidFill>
          </a:ln>
          <a:effectLst>
            <a:outerShdw blurRad="317500" sx="107000" sy="107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1" name="Flowchart: Process 10">
            <a:extLst>
              <a:ext uri="{FF2B5EF4-FFF2-40B4-BE49-F238E27FC236}">
                <a16:creationId xmlns:a16="http://schemas.microsoft.com/office/drawing/2014/main" id="{3DCB067D-876D-2457-2856-C18A3F2DBEE3}"/>
              </a:ext>
            </a:extLst>
          </p:cNvPr>
          <p:cNvSpPr/>
          <p:nvPr/>
        </p:nvSpPr>
        <p:spPr>
          <a:xfrm rot="17567664">
            <a:off x="8646772" y="3324982"/>
            <a:ext cx="7424964" cy="258064"/>
          </a:xfrm>
          <a:prstGeom prst="flowChartProcess">
            <a:avLst/>
          </a:prstGeom>
          <a:ln>
            <a:solidFill>
              <a:schemeClr val="tx1"/>
            </a:solidFill>
          </a:ln>
          <a:effectLst>
            <a:outerShdw blurRad="317500" sx="107000" sy="107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7" name="Flowchart: Connector 6">
            <a:extLst>
              <a:ext uri="{FF2B5EF4-FFF2-40B4-BE49-F238E27FC236}">
                <a16:creationId xmlns:a16="http://schemas.microsoft.com/office/drawing/2014/main" id="{29A32DE2-F236-652D-FF36-DCB9E1A28F40}"/>
              </a:ext>
            </a:extLst>
          </p:cNvPr>
          <p:cNvSpPr/>
          <p:nvPr/>
        </p:nvSpPr>
        <p:spPr>
          <a:xfrm rot="9457359">
            <a:off x="10340967" y="1435308"/>
            <a:ext cx="3987382" cy="3987382"/>
          </a:xfrm>
          <a:prstGeom prst="flowChartConnector">
            <a:avLst/>
          </a:prstGeom>
          <a:effectLst>
            <a:outerShdw blurRad="304800" sx="110000" sy="110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EEA6EFD-8854-CD22-86DE-23A89735818C}"/>
              </a:ext>
            </a:extLst>
          </p:cNvPr>
          <p:cNvSpPr txBox="1"/>
          <p:nvPr/>
        </p:nvSpPr>
        <p:spPr>
          <a:xfrm rot="16200000">
            <a:off x="11051857" y="5823375"/>
            <a:ext cx="27536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HC-05</a:t>
            </a:r>
          </a:p>
          <a:p>
            <a:pPr algn="ctr"/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bluetooth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9F8FFA-551B-057F-E4CC-86F404997C95}"/>
              </a:ext>
            </a:extLst>
          </p:cNvPr>
          <p:cNvSpPr txBox="1"/>
          <p:nvPr/>
        </p:nvSpPr>
        <p:spPr>
          <a:xfrm rot="18703028">
            <a:off x="8985145" y="5268349"/>
            <a:ext cx="2753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Cables 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4517A4E-ACA0-78AA-3B1F-F941700648F1}"/>
              </a:ext>
            </a:extLst>
          </p:cNvPr>
          <p:cNvSpPr txBox="1"/>
          <p:nvPr/>
        </p:nvSpPr>
        <p:spPr>
          <a:xfrm>
            <a:off x="8059369" y="3223181"/>
            <a:ext cx="2753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7B3A06-8F11-6FA2-1216-1C8C542AE125}"/>
              </a:ext>
            </a:extLst>
          </p:cNvPr>
          <p:cNvSpPr txBox="1"/>
          <p:nvPr/>
        </p:nvSpPr>
        <p:spPr>
          <a:xfrm rot="2879997">
            <a:off x="8885204" y="1058135"/>
            <a:ext cx="2753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Webcam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ADF9BA-3FFE-C5B0-115D-A6CAB3461ACD}"/>
              </a:ext>
            </a:extLst>
          </p:cNvPr>
          <p:cNvSpPr txBox="1"/>
          <p:nvPr/>
        </p:nvSpPr>
        <p:spPr>
          <a:xfrm>
            <a:off x="8727546" y="3021006"/>
            <a:ext cx="17631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 Arm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19AE97-F400-B7CF-DBA3-24CFE9233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8871" y="1337665"/>
            <a:ext cx="5509791" cy="413675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BB36E7-BBB2-0290-A4DA-94589312A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7365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78CDC-DBAD-0393-5948-723864BD3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Summing Junction 5">
            <a:extLst>
              <a:ext uri="{FF2B5EF4-FFF2-40B4-BE49-F238E27FC236}">
                <a16:creationId xmlns:a16="http://schemas.microsoft.com/office/drawing/2014/main" id="{768B69F2-6806-A004-1C50-2E1F50B6D579}"/>
              </a:ext>
            </a:extLst>
          </p:cNvPr>
          <p:cNvSpPr/>
          <p:nvPr/>
        </p:nvSpPr>
        <p:spPr>
          <a:xfrm rot="6750078">
            <a:off x="8621597" y="-284062"/>
            <a:ext cx="7426123" cy="7426123"/>
          </a:xfrm>
          <a:prstGeom prst="flowChartSummingJunction">
            <a:avLst/>
          </a:prstGeom>
          <a:solidFill>
            <a:schemeClr val="bg1">
              <a:lumMod val="65000"/>
              <a:lumOff val="35000"/>
            </a:schemeClr>
          </a:solidFill>
          <a:ln w="12700">
            <a:solidFill>
              <a:schemeClr val="tx1"/>
            </a:solidFill>
          </a:ln>
          <a:effectLst>
            <a:outerShdw blurRad="419100" dist="25400" dir="12600000" sx="103000" sy="103000" algn="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7" name="Flowchart: Process 16">
            <a:extLst>
              <a:ext uri="{FF2B5EF4-FFF2-40B4-BE49-F238E27FC236}">
                <a16:creationId xmlns:a16="http://schemas.microsoft.com/office/drawing/2014/main" id="{7C3C6C94-CFF5-A9C8-0873-93492A051C57}"/>
              </a:ext>
            </a:extLst>
          </p:cNvPr>
          <p:cNvSpPr/>
          <p:nvPr/>
        </p:nvSpPr>
        <p:spPr>
          <a:xfrm rot="12150078">
            <a:off x="8624575" y="3296132"/>
            <a:ext cx="7448039" cy="258064"/>
          </a:xfrm>
          <a:prstGeom prst="flowChartProcess">
            <a:avLst/>
          </a:prstGeom>
          <a:ln>
            <a:solidFill>
              <a:schemeClr val="tx1"/>
            </a:solidFill>
          </a:ln>
          <a:effectLst>
            <a:outerShdw blurRad="317500" sx="107000" sy="107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6" name="Flowchart: Process 15">
            <a:extLst>
              <a:ext uri="{FF2B5EF4-FFF2-40B4-BE49-F238E27FC236}">
                <a16:creationId xmlns:a16="http://schemas.microsoft.com/office/drawing/2014/main" id="{10025588-9EE6-52E1-E7B2-C6F7EB455007}"/>
              </a:ext>
            </a:extLst>
          </p:cNvPr>
          <p:cNvSpPr/>
          <p:nvPr/>
        </p:nvSpPr>
        <p:spPr>
          <a:xfrm rot="6750078">
            <a:off x="8621597" y="3324982"/>
            <a:ext cx="7424964" cy="258064"/>
          </a:xfrm>
          <a:prstGeom prst="flowChartProcess">
            <a:avLst/>
          </a:prstGeom>
          <a:ln>
            <a:solidFill>
              <a:schemeClr val="tx1"/>
            </a:solidFill>
          </a:ln>
          <a:effectLst>
            <a:outerShdw blurRad="317500" sx="107000" sy="107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8" name="Flowchart: Process 7">
            <a:extLst>
              <a:ext uri="{FF2B5EF4-FFF2-40B4-BE49-F238E27FC236}">
                <a16:creationId xmlns:a16="http://schemas.microsoft.com/office/drawing/2014/main" id="{C2196A52-9A2B-77B5-D6DB-6B7B4AB32F95}"/>
              </a:ext>
            </a:extLst>
          </p:cNvPr>
          <p:cNvSpPr/>
          <p:nvPr/>
        </p:nvSpPr>
        <p:spPr>
          <a:xfrm rot="9406120">
            <a:off x="8622176" y="3299968"/>
            <a:ext cx="7424964" cy="258064"/>
          </a:xfrm>
          <a:prstGeom prst="flowChartProcess">
            <a:avLst/>
          </a:prstGeom>
          <a:ln>
            <a:solidFill>
              <a:schemeClr val="tx1"/>
            </a:solidFill>
          </a:ln>
          <a:effectLst>
            <a:outerShdw blurRad="317500" sx="107000" sy="107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1" name="Flowchart: Process 10">
            <a:extLst>
              <a:ext uri="{FF2B5EF4-FFF2-40B4-BE49-F238E27FC236}">
                <a16:creationId xmlns:a16="http://schemas.microsoft.com/office/drawing/2014/main" id="{AD8EB593-9218-AF89-D164-EC7590FF5E6F}"/>
              </a:ext>
            </a:extLst>
          </p:cNvPr>
          <p:cNvSpPr/>
          <p:nvPr/>
        </p:nvSpPr>
        <p:spPr>
          <a:xfrm rot="14860383">
            <a:off x="8646772" y="3324982"/>
            <a:ext cx="7424964" cy="258064"/>
          </a:xfrm>
          <a:prstGeom prst="flowChartProcess">
            <a:avLst/>
          </a:prstGeom>
          <a:ln>
            <a:solidFill>
              <a:schemeClr val="tx1"/>
            </a:solidFill>
          </a:ln>
          <a:effectLst>
            <a:outerShdw blurRad="317500" sx="107000" sy="107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7" name="Flowchart: Connector 6">
            <a:extLst>
              <a:ext uri="{FF2B5EF4-FFF2-40B4-BE49-F238E27FC236}">
                <a16:creationId xmlns:a16="http://schemas.microsoft.com/office/drawing/2014/main" id="{243EBB58-9AF4-70C0-3F74-8E5AA7F6A9E7}"/>
              </a:ext>
            </a:extLst>
          </p:cNvPr>
          <p:cNvSpPr/>
          <p:nvPr/>
        </p:nvSpPr>
        <p:spPr>
          <a:xfrm rot="6750078">
            <a:off x="10340967" y="1435308"/>
            <a:ext cx="3987382" cy="3987382"/>
          </a:xfrm>
          <a:prstGeom prst="flowChartConnector">
            <a:avLst/>
          </a:prstGeom>
          <a:effectLst>
            <a:outerShdw blurRad="304800" sx="110000" sy="110000" algn="ctr" rotWithShape="0">
              <a:schemeClr val="tx1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95D9DF1-D604-50F7-F869-D12A6DA567EC}"/>
              </a:ext>
            </a:extLst>
          </p:cNvPr>
          <p:cNvSpPr txBox="1"/>
          <p:nvPr/>
        </p:nvSpPr>
        <p:spPr>
          <a:xfrm rot="16200000">
            <a:off x="11013784" y="5791968"/>
            <a:ext cx="27536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Cable </a:t>
            </a:r>
          </a:p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71343D-5C77-E08D-A419-5FD8B5A09C69}"/>
              </a:ext>
            </a:extLst>
          </p:cNvPr>
          <p:cNvSpPr txBox="1"/>
          <p:nvPr/>
        </p:nvSpPr>
        <p:spPr>
          <a:xfrm rot="18668478">
            <a:off x="8927332" y="5191055"/>
            <a:ext cx="2753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 Arm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819490-71BE-2FDE-D685-0C50BBF09406}"/>
              </a:ext>
            </a:extLst>
          </p:cNvPr>
          <p:cNvSpPr txBox="1"/>
          <p:nvPr/>
        </p:nvSpPr>
        <p:spPr>
          <a:xfrm>
            <a:off x="8069705" y="2981196"/>
            <a:ext cx="2753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Webcam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4456A3-44B4-711D-B127-11FB718A7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943" y="1554658"/>
            <a:ext cx="4712002" cy="359009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4B3021-1B80-F5FF-4733-5C13948CE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649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7B6671-8897-4EFF-65C2-AFE3238E2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hlinkClick r:id="rId2" action="ppaction://hlinksldjump"/>
            <a:extLst>
              <a:ext uri="{FF2B5EF4-FFF2-40B4-BE49-F238E27FC236}">
                <a16:creationId xmlns:a16="http://schemas.microsoft.com/office/drawing/2014/main" id="{8EDAFC44-B487-ADA5-EFED-5F11EBAAEA95}"/>
              </a:ext>
            </a:extLst>
          </p:cNvPr>
          <p:cNvSpPr/>
          <p:nvPr/>
        </p:nvSpPr>
        <p:spPr>
          <a:xfrm>
            <a:off x="-771647" y="-653970"/>
            <a:ext cx="13735294" cy="8165940"/>
          </a:xfrm>
          <a:prstGeom prst="roundRect">
            <a:avLst/>
          </a:prstGeom>
          <a:noFill/>
          <a:ln w="38100"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48C933-53E5-E412-E6C8-EFC58E4E684E}"/>
              </a:ext>
            </a:extLst>
          </p:cNvPr>
          <p:cNvSpPr txBox="1"/>
          <p:nvPr/>
        </p:nvSpPr>
        <p:spPr>
          <a:xfrm>
            <a:off x="651127" y="619125"/>
            <a:ext cx="10889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  <a:endParaRPr lang="en-IN" sz="2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3E8144-C7A8-500E-7FE5-1E3B73F3FB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829" t="174" r="27472" b="8072"/>
          <a:stretch/>
        </p:blipFill>
        <p:spPr>
          <a:xfrm>
            <a:off x="2578676" y="1548246"/>
            <a:ext cx="7034646" cy="484216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76BDBE-A5C1-4338-341B-2933863E7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9394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D2B91-BF0F-0615-4C5A-3C06FF6D0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2989" y="126098"/>
            <a:ext cx="2526020" cy="101363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</a:t>
            </a:r>
            <a:endParaRPr lang="en-IN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F5D82-268D-58E8-9489-DE0D89C5A3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286" y="1139736"/>
            <a:ext cx="10131425" cy="1948083"/>
          </a:xfrm>
        </p:spPr>
        <p:txBody>
          <a:bodyPr>
            <a:normAutofit/>
          </a:bodyPr>
          <a:lstStyle/>
          <a:p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This is a gesture recognition program for the Arm. It uses the </a:t>
            </a:r>
            <a:r>
              <a:rPr lang="en-IN" sz="1800" u="sng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MediaPipe</a:t>
            </a:r>
            <a:r>
              <a:rPr lang="en-IN" sz="1800" u="sng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to detect hand gestures</a:t>
            </a:r>
            <a:endParaRPr lang="en-IN" sz="1800" u="sng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and control the Arm.</a:t>
            </a:r>
          </a:p>
          <a:p>
            <a:r>
              <a:rPr lang="en-IN" sz="1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Uses Bluetooth module for communication .</a:t>
            </a:r>
          </a:p>
          <a:p>
            <a:r>
              <a:rPr lang="en-IN" sz="1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Serial communication with Arduino uno .(</a:t>
            </a:r>
            <a:r>
              <a:rPr lang="en-IN" sz="1800" dirty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ser = </a:t>
            </a:r>
            <a:r>
              <a:rPr lang="en-IN" sz="1800" dirty="0" err="1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serial.Serial</a:t>
            </a:r>
            <a:r>
              <a:rPr lang="en-IN" sz="1800" dirty="0">
                <a:effectLst/>
                <a:latin typeface="Courier New" panose="02070309020205020404" pitchFamily="49" charset="0"/>
                <a:ea typeface="Calibri" panose="020F0502020204030204" pitchFamily="34" charset="0"/>
              </a:rPr>
              <a:t>(COM10,9600)).</a:t>
            </a:r>
            <a:endParaRPr lang="en-IN" sz="18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3D7307-AA39-C198-251F-44D38E3C110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090"/>
          <a:stretch/>
        </p:blipFill>
        <p:spPr>
          <a:xfrm>
            <a:off x="6095998" y="3601720"/>
            <a:ext cx="2794960" cy="256797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DAA6CD-D350-62A0-E497-3E0F294F5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749BBC-37B3-2F99-E6A3-5952E06B057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2418" t="2007" r="13732" b="12207"/>
          <a:stretch/>
        </p:blipFill>
        <p:spPr>
          <a:xfrm>
            <a:off x="3048981" y="3563796"/>
            <a:ext cx="2794960" cy="2648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154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3B80667D-B1B3-F683-969F-BD29451B2E28}"/>
              </a:ext>
            </a:extLst>
          </p:cNvPr>
          <p:cNvSpPr txBox="1"/>
          <p:nvPr/>
        </p:nvSpPr>
        <p:spPr>
          <a:xfrm>
            <a:off x="5733558" y="1838680"/>
            <a:ext cx="2667451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unga" panose="020B0502040204020203" pitchFamily="34" charset="0"/>
              </a:rPr>
              <a:t>x_min = 0</a:t>
            </a:r>
            <a:br>
              <a:rPr lang="en-IN" sz="16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unga" panose="020B0502040204020203" pitchFamily="34" charset="0"/>
              </a:rPr>
            </a:br>
            <a:r>
              <a:rPr lang="en-IN" sz="1600" kern="1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unga" panose="020B0502040204020203" pitchFamily="34" charset="0"/>
              </a:rPr>
              <a:t>x_mid</a:t>
            </a:r>
            <a:r>
              <a:rPr lang="en-IN" sz="16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unga" panose="020B0502040204020203" pitchFamily="34" charset="0"/>
              </a:rPr>
              <a:t> = 75</a:t>
            </a:r>
            <a:br>
              <a:rPr lang="en-IN" sz="16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unga" panose="020B0502040204020203" pitchFamily="34" charset="0"/>
              </a:rPr>
            </a:br>
            <a:r>
              <a:rPr lang="en-IN" sz="1600" kern="1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unga" panose="020B0502040204020203" pitchFamily="34" charset="0"/>
              </a:rPr>
              <a:t>x_max</a:t>
            </a:r>
            <a:r>
              <a:rPr lang="en-IN" sz="16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unga" panose="020B0502040204020203" pitchFamily="34" charset="0"/>
              </a:rPr>
              <a:t> = 150</a:t>
            </a:r>
            <a:br>
              <a:rPr lang="en-IN" sz="16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unga" panose="020B0502040204020203" pitchFamily="34" charset="0"/>
              </a:rPr>
            </a:br>
            <a:endParaRPr lang="en-IN" sz="1600" kern="100" dirty="0">
              <a:effectLst/>
              <a:latin typeface="Consolas" panose="020B0609020204030204" pitchFamily="49" charset="0"/>
              <a:ea typeface="Calibri" panose="020F0502020204030204" pitchFamily="34" charset="0"/>
              <a:cs typeface="Tunga" panose="020B0502040204020203" pitchFamily="34" charset="0"/>
            </a:endParaRPr>
          </a:p>
          <a:p>
            <a:r>
              <a:rPr lang="en-IN" sz="1600" kern="1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unga" panose="020B0502040204020203" pitchFamily="34" charset="0"/>
              </a:rPr>
              <a:t>y_min</a:t>
            </a:r>
            <a:r>
              <a:rPr lang="en-IN" sz="16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unga" panose="020B0502040204020203" pitchFamily="34" charset="0"/>
              </a:rPr>
              <a:t> = 0</a:t>
            </a:r>
            <a:br>
              <a:rPr lang="en-IN" sz="16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unga" panose="020B0502040204020203" pitchFamily="34" charset="0"/>
              </a:rPr>
            </a:br>
            <a:r>
              <a:rPr lang="en-IN" sz="1600" kern="1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unga" panose="020B0502040204020203" pitchFamily="34" charset="0"/>
              </a:rPr>
              <a:t>y_mid</a:t>
            </a:r>
            <a:r>
              <a:rPr lang="en-IN" sz="16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unga" panose="020B0502040204020203" pitchFamily="34" charset="0"/>
              </a:rPr>
              <a:t> = 90</a:t>
            </a:r>
            <a:br>
              <a:rPr lang="en-IN" sz="16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unga" panose="020B0502040204020203" pitchFamily="34" charset="0"/>
              </a:rPr>
            </a:br>
            <a:r>
              <a:rPr lang="en-IN" sz="1600" kern="1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unga" panose="020B0502040204020203" pitchFamily="34" charset="0"/>
              </a:rPr>
              <a:t>y_max</a:t>
            </a:r>
            <a:r>
              <a:rPr lang="en-IN" sz="16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unga" panose="020B0502040204020203" pitchFamily="34" charset="0"/>
              </a:rPr>
              <a:t> = 180</a:t>
            </a:r>
            <a:br>
              <a:rPr lang="en-IN" sz="16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unga" panose="020B0502040204020203" pitchFamily="34" charset="0"/>
              </a:rPr>
            </a:br>
            <a:br>
              <a:rPr lang="en-IN" sz="16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unga" panose="020B0502040204020203" pitchFamily="34" charset="0"/>
              </a:rPr>
            </a:br>
            <a:r>
              <a:rPr lang="en-IN" sz="1600" kern="1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unga" panose="020B0502040204020203" pitchFamily="34" charset="0"/>
              </a:rPr>
              <a:t>z_min</a:t>
            </a:r>
            <a:r>
              <a:rPr lang="en-IN" sz="16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unga" panose="020B0502040204020203" pitchFamily="34" charset="0"/>
              </a:rPr>
              <a:t> = 10</a:t>
            </a:r>
            <a:br>
              <a:rPr lang="en-IN" sz="16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unga" panose="020B0502040204020203" pitchFamily="34" charset="0"/>
              </a:rPr>
            </a:br>
            <a:r>
              <a:rPr lang="en-IN" sz="1600" kern="1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unga" panose="020B0502040204020203" pitchFamily="34" charset="0"/>
              </a:rPr>
              <a:t>z_mid</a:t>
            </a:r>
            <a:r>
              <a:rPr lang="en-IN" sz="16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unga" panose="020B0502040204020203" pitchFamily="34" charset="0"/>
              </a:rPr>
              <a:t> = 90</a:t>
            </a:r>
            <a:br>
              <a:rPr lang="en-IN" sz="16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unga" panose="020B0502040204020203" pitchFamily="34" charset="0"/>
              </a:rPr>
            </a:br>
            <a:r>
              <a:rPr lang="en-IN" sz="1600" kern="1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unga" panose="020B0502040204020203" pitchFamily="34" charset="0"/>
              </a:rPr>
              <a:t>z_max</a:t>
            </a:r>
            <a:r>
              <a:rPr lang="en-IN" sz="16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unga" panose="020B0502040204020203" pitchFamily="34" charset="0"/>
              </a:rPr>
              <a:t> = 180</a:t>
            </a:r>
          </a:p>
          <a:p>
            <a:endParaRPr lang="en-IN" sz="1600" kern="1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unga" panose="020B0502040204020203" pitchFamily="34" charset="0"/>
            </a:endParaRPr>
          </a:p>
          <a:p>
            <a:br>
              <a:rPr lang="en-IN" sz="20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unga" panose="020B0502040204020203" pitchFamily="34" charset="0"/>
              </a:rPr>
            </a:br>
            <a:endParaRPr lang="en-IN" sz="2000" kern="100" dirty="0">
              <a:effectLst/>
              <a:latin typeface="Consolas" panose="020B0609020204030204" pitchFamily="49" charset="0"/>
              <a:ea typeface="Calibri" panose="020F0502020204030204" pitchFamily="34" charset="0"/>
              <a:cs typeface="Tunga" panose="020B0502040204020203" pitchFamily="34" charset="0"/>
            </a:endParaRPr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259C9F-686F-001F-362A-BB2ADC19DCA8}"/>
              </a:ext>
            </a:extLst>
          </p:cNvPr>
          <p:cNvSpPr txBox="1"/>
          <p:nvPr/>
        </p:nvSpPr>
        <p:spPr>
          <a:xfrm>
            <a:off x="8514735" y="1769854"/>
            <a:ext cx="2585884" cy="3105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44450" lvl="0" indent="-342900" algn="l">
              <a:lnSpc>
                <a:spcPct val="115000"/>
              </a:lnSpc>
              <a:spcAft>
                <a:spcPts val="106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775970" algn="l"/>
              </a:tabLst>
            </a:pPr>
            <a:r>
              <a:rPr lang="en-IN" sz="1600" kern="100" dirty="0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Python 3.9</a:t>
            </a:r>
          </a:p>
          <a:p>
            <a:pPr marL="342900" marR="44450" indent="-342900">
              <a:lnSpc>
                <a:spcPct val="115000"/>
              </a:lnSpc>
              <a:spcAft>
                <a:spcPts val="106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775970" algn="l"/>
              </a:tabLst>
            </a:pPr>
            <a:r>
              <a:rPr lang="en-IN" sz="1600" kern="100" dirty="0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Arduino IDE</a:t>
            </a:r>
          </a:p>
          <a:p>
            <a:pPr marL="342900" marR="44450" lvl="0" indent="-342900" algn="l">
              <a:lnSpc>
                <a:spcPct val="115000"/>
              </a:lnSpc>
              <a:spcAft>
                <a:spcPts val="106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775970" algn="l"/>
              </a:tabLst>
            </a:pPr>
            <a:r>
              <a:rPr lang="en-IN" sz="1600" kern="100" dirty="0" err="1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MediaPipe</a:t>
            </a:r>
            <a:r>
              <a:rPr lang="en-IN" sz="1600" kern="100" dirty="0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1600" kern="1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0.9</a:t>
            </a:r>
            <a:endParaRPr lang="en-IN" sz="1600" kern="100" dirty="0">
              <a:solidFill>
                <a:schemeClr val="tx1">
                  <a:lumMod val="9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44450" lvl="0" indent="-342900" algn="l">
              <a:lnSpc>
                <a:spcPct val="115000"/>
              </a:lnSpc>
              <a:spcAft>
                <a:spcPts val="106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775970" algn="l"/>
              </a:tabLst>
            </a:pPr>
            <a:r>
              <a:rPr lang="en-IN" sz="1600" kern="100" dirty="0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OpenCV Library</a:t>
            </a:r>
          </a:p>
          <a:p>
            <a:pPr marL="342900" marR="44450" lvl="0" indent="-342900" algn="l">
              <a:lnSpc>
                <a:spcPct val="115000"/>
              </a:lnSpc>
              <a:spcAft>
                <a:spcPts val="106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  <a:tab pos="775970" algn="l"/>
              </a:tabLst>
            </a:pPr>
            <a:r>
              <a:rPr lang="en-IN" sz="1600" kern="100" dirty="0" err="1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PySerial</a:t>
            </a:r>
            <a:r>
              <a:rPr lang="en-IN" sz="1600" kern="100" dirty="0">
                <a:solidFill>
                  <a:schemeClr val="tx1">
                    <a:lumMod val="95000"/>
                  </a:schemeClr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Librar</a:t>
            </a:r>
            <a:r>
              <a:rPr lang="en-IN" sz="1600" kern="100" dirty="0">
                <a:solidFill>
                  <a:schemeClr val="tx1">
                    <a:lumMod val="95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y</a:t>
            </a:r>
            <a:endParaRPr lang="en-IN" sz="1600" kern="100" dirty="0">
              <a:solidFill>
                <a:schemeClr val="tx1">
                  <a:lumMod val="95000"/>
                </a:schemeClr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DC035EA-5B43-97A0-C44E-50C94B170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7E3733-9A33-2DBC-B635-E2F5CA041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783" y="1063416"/>
            <a:ext cx="3867979" cy="47572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C5A716-E63C-DACD-2231-F0D9AF76B2ED}"/>
              </a:ext>
            </a:extLst>
          </p:cNvPr>
          <p:cNvSpPr txBox="1"/>
          <p:nvPr/>
        </p:nvSpPr>
        <p:spPr>
          <a:xfrm>
            <a:off x="2222091" y="4257369"/>
            <a:ext cx="3946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X</a:t>
            </a:r>
            <a:endParaRPr lang="en-IN" sz="24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EF3239-B934-DFD5-60C1-F36841B6AE55}"/>
              </a:ext>
            </a:extLst>
          </p:cNvPr>
          <p:cNvSpPr txBox="1"/>
          <p:nvPr/>
        </p:nvSpPr>
        <p:spPr>
          <a:xfrm>
            <a:off x="2512321" y="3428999"/>
            <a:ext cx="375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Y</a:t>
            </a:r>
            <a:endParaRPr lang="en-IN" sz="2400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B428D-01B8-0D18-2A41-3C3784846817}"/>
              </a:ext>
            </a:extLst>
          </p:cNvPr>
          <p:cNvSpPr txBox="1"/>
          <p:nvPr/>
        </p:nvSpPr>
        <p:spPr>
          <a:xfrm>
            <a:off x="1716369" y="3539613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Z</a:t>
            </a:r>
            <a:endParaRPr lang="en-IN" sz="2400" b="1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873FBD-876D-2AA4-F3DA-DE7150509FE4}"/>
              </a:ext>
            </a:extLst>
          </p:cNvPr>
          <p:cNvSpPr txBox="1"/>
          <p:nvPr/>
        </p:nvSpPr>
        <p:spPr>
          <a:xfrm>
            <a:off x="3690351" y="3489484"/>
            <a:ext cx="4251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C</a:t>
            </a:r>
            <a:endParaRPr lang="en-IN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8729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2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5E03B4-BF70-3CD3-6051-E4AE7CA86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56064FF-D41A-19A5-B44E-C4D2A61DF702}"/>
              </a:ext>
            </a:extLst>
          </p:cNvPr>
          <p:cNvSpPr txBox="1"/>
          <p:nvPr/>
        </p:nvSpPr>
        <p:spPr>
          <a:xfrm>
            <a:off x="816768" y="822402"/>
            <a:ext cx="10558464" cy="5799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 GESTURES TO CONTROL ARM </a:t>
            </a:r>
            <a:r>
              <a:rPr lang="en-US" altLang="en-US" sz="2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altLang="en-US" sz="20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5" name="Section Zoom 4">
                <a:extLst>
                  <a:ext uri="{FF2B5EF4-FFF2-40B4-BE49-F238E27FC236}">
                    <a16:creationId xmlns:a16="http://schemas.microsoft.com/office/drawing/2014/main" id="{162132DB-FE06-9F4F-6A3E-E2ABE9F8EFD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17283080"/>
                  </p:ext>
                </p:extLst>
              </p:nvPr>
            </p:nvGraphicFramePr>
            <p:xfrm>
              <a:off x="640081" y="2139948"/>
              <a:ext cx="5252720" cy="2954655"/>
            </p:xfrm>
            <a:graphic>
              <a:graphicData uri="http://schemas.microsoft.com/office/powerpoint/2016/sectionzoom">
                <psez:sectionZm>
                  <psez:sectionZmObj sectionId="{25219942-EEF3-4F9A-8FE0-0D0B1BC60A6A}">
                    <psez:zmPr id="{DACA52FA-809F-48FE-A763-23210809D8F1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252720" cy="295465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5" name="Section Zoom 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162132DB-FE06-9F4F-6A3E-E2ABE9F8EFD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0081" y="2139948"/>
                <a:ext cx="5252720" cy="295465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ez="http://schemas.microsoft.com/office/powerpoint/2016/sectionzoom">
        <mc:Choice Requires="psez">
          <p:graphicFrame>
            <p:nvGraphicFramePr>
              <p:cNvPr id="8" name="Section Zoom 7">
                <a:extLst>
                  <a:ext uri="{FF2B5EF4-FFF2-40B4-BE49-F238E27FC236}">
                    <a16:creationId xmlns:a16="http://schemas.microsoft.com/office/drawing/2014/main" id="{A3445CC9-5EAC-F84A-B8C8-D6C328E77C9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20573058"/>
                  </p:ext>
                </p:extLst>
              </p:nvPr>
            </p:nvGraphicFramePr>
            <p:xfrm>
              <a:off x="6299201" y="2139949"/>
              <a:ext cx="5252718" cy="2954654"/>
            </p:xfrm>
            <a:graphic>
              <a:graphicData uri="http://schemas.microsoft.com/office/powerpoint/2016/sectionzoom">
                <psez:sectionZm>
                  <psez:sectionZmObj sectionId="{536C80FD-5AF0-4216-9252-F88605700B8D}">
                    <psez:zmPr id="{22336A1E-4168-4FA3-905B-5FA97F393CC2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5252718" cy="295465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ez:zmPr>
                  </psez:sectionZmObj>
                </psez:sectionZm>
              </a:graphicData>
            </a:graphic>
          </p:graphicFrame>
        </mc:Choice>
        <mc:Fallback xmlns="">
          <p:pic>
            <p:nvPicPr>
              <p:cNvPr id="8" name="Section Zoom 7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A3445CC9-5EAC-F84A-B8C8-D6C328E77C9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299201" y="2139949"/>
                <a:ext cx="5252718" cy="295465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03767038-971A-C75D-FB3D-8C36902566D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1" y="2139948"/>
            <a:ext cx="5252720" cy="29546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3F7103-5C2D-1C35-49D0-4FACE48905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9199" y="2139948"/>
            <a:ext cx="5252720" cy="2954655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C405F4F-B0DD-6739-9ED8-D256221B6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4444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lumOff val="3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FA747D-B08F-1369-2FC8-ADB6077E4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BF27A5-619C-4623-DB90-DA6D5DF83A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584" y="1597688"/>
            <a:ext cx="4668759" cy="38274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758BDF4-91EA-5610-720E-7FB0073C7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659" y="1556536"/>
            <a:ext cx="4329189" cy="386863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6BE1BEB-90B4-438C-F88F-63EFFC14693E}"/>
              </a:ext>
            </a:extLst>
          </p:cNvPr>
          <p:cNvSpPr txBox="1"/>
          <p:nvPr/>
        </p:nvSpPr>
        <p:spPr>
          <a:xfrm>
            <a:off x="2285541" y="5509418"/>
            <a:ext cx="1836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>
                    <a:lumMod val="95000"/>
                    <a:lumOff val="5000"/>
                  </a:schemeClr>
                </a:solidFill>
              </a:rPr>
              <a:t> 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CLAW OPEN</a:t>
            </a:r>
            <a:endParaRPr lang="en-IN" sz="2400" b="1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7124945-B1CA-13BF-6D47-8FB42F4B33CC}"/>
              </a:ext>
            </a:extLst>
          </p:cNvPr>
          <p:cNvSpPr txBox="1"/>
          <p:nvPr/>
        </p:nvSpPr>
        <p:spPr>
          <a:xfrm>
            <a:off x="7680603" y="5570973"/>
            <a:ext cx="22752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   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CLAW CLOSE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02FC43-FAC8-6A00-BC61-EAD25CB66912}"/>
              </a:ext>
            </a:extLst>
          </p:cNvPr>
          <p:cNvSpPr txBox="1"/>
          <p:nvPr/>
        </p:nvSpPr>
        <p:spPr>
          <a:xfrm>
            <a:off x="2265936" y="389886"/>
            <a:ext cx="74978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HAND GESTURES TO RECOGNIZE ACTIONS</a:t>
            </a:r>
            <a:endParaRPr lang="en-IN" sz="28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5D40C9-6DA1-C56B-E6C1-EFACA230B3F7}"/>
              </a:ext>
            </a:extLst>
          </p:cNvPr>
          <p:cNvSpPr txBox="1"/>
          <p:nvPr/>
        </p:nvSpPr>
        <p:spPr>
          <a:xfrm>
            <a:off x="4511398" y="6006449"/>
            <a:ext cx="610108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kern="1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unga" panose="020B0502040204020203" pitchFamily="34" charset="0"/>
              </a:rPr>
              <a:t>claw_open_angle</a:t>
            </a:r>
            <a:r>
              <a:rPr lang="en-IN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unga" panose="020B0502040204020203" pitchFamily="34" charset="0"/>
              </a:rPr>
              <a:t> = 60</a:t>
            </a:r>
            <a:br>
              <a:rPr lang="en-IN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unga" panose="020B0502040204020203" pitchFamily="34" charset="0"/>
              </a:rPr>
            </a:br>
            <a:r>
              <a:rPr lang="en-IN" sz="1800" kern="100" dirty="0" err="1">
                <a:effectLst/>
                <a:latin typeface="Courier New" panose="02070309020205020404" pitchFamily="49" charset="0"/>
                <a:ea typeface="Calibri" panose="020F0502020204030204" pitchFamily="34" charset="0"/>
                <a:cs typeface="Tunga" panose="020B0502040204020203" pitchFamily="34" charset="0"/>
              </a:rPr>
              <a:t>claw_close_angle</a:t>
            </a:r>
            <a:r>
              <a:rPr lang="en-IN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unga" panose="020B0502040204020203" pitchFamily="34" charset="0"/>
              </a:rPr>
              <a:t> = 0</a:t>
            </a:r>
            <a:br>
              <a:rPr lang="en-IN" sz="1800" kern="100" dirty="0">
                <a:effectLst/>
                <a:latin typeface="Courier New" panose="02070309020205020404" pitchFamily="49" charset="0"/>
                <a:ea typeface="Calibri" panose="020F0502020204030204" pitchFamily="34" charset="0"/>
                <a:cs typeface="Tunga" panose="020B0502040204020203" pitchFamily="34" charset="0"/>
              </a:rPr>
            </a:br>
            <a:endParaRPr lang="en-IN" sz="1800" kern="100" dirty="0">
              <a:effectLst/>
              <a:latin typeface="Consolas" panose="020B0609020204030204" pitchFamily="49" charset="0"/>
              <a:ea typeface="Calibri" panose="020F0502020204030204" pitchFamily="34" charset="0"/>
              <a:cs typeface="Tunga" panose="020B0502040204020203" pitchFamily="34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C82F072-2001-EAC2-81CA-F88845CA4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7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31F35-5B10-8354-3FE7-131B3B07F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D61E3E-509F-AE0C-E8EB-78D9C9573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42" y="1650638"/>
            <a:ext cx="4506782" cy="39898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A89AD7-99F5-9EA5-2DAA-C07DDBC80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382" y="1681789"/>
            <a:ext cx="4865681" cy="39898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6746F2F-DB62-1322-E4FC-CF1009436F21}"/>
              </a:ext>
            </a:extLst>
          </p:cNvPr>
          <p:cNvSpPr txBox="1"/>
          <p:nvPr/>
        </p:nvSpPr>
        <p:spPr>
          <a:xfrm>
            <a:off x="1088250" y="5735104"/>
            <a:ext cx="3703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 LEFT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F99160-A477-E004-145D-DDF0B6C5011F}"/>
              </a:ext>
            </a:extLst>
          </p:cNvPr>
          <p:cNvSpPr txBox="1"/>
          <p:nvPr/>
        </p:nvSpPr>
        <p:spPr>
          <a:xfrm>
            <a:off x="7399852" y="5761366"/>
            <a:ext cx="3136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 RIGHT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800C698-E58F-2075-35DD-11D9E514C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44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hlinkClick r:id="rId2" action="ppaction://hlinksldjump"/>
            <a:extLst>
              <a:ext uri="{FF2B5EF4-FFF2-40B4-BE49-F238E27FC236}">
                <a16:creationId xmlns:a16="http://schemas.microsoft.com/office/drawing/2014/main" id="{8B16C758-D4BE-BC39-14C0-BF2E6C610A71}"/>
              </a:ext>
            </a:extLst>
          </p:cNvPr>
          <p:cNvSpPr/>
          <p:nvPr/>
        </p:nvSpPr>
        <p:spPr>
          <a:xfrm>
            <a:off x="912018" y="619125"/>
            <a:ext cx="10367963" cy="5619750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3CB2E1-3CF6-FFA2-6F95-63120748BBE5}"/>
              </a:ext>
            </a:extLst>
          </p:cNvPr>
          <p:cNvSpPr txBox="1"/>
          <p:nvPr/>
        </p:nvSpPr>
        <p:spPr>
          <a:xfrm>
            <a:off x="651127" y="3013501"/>
            <a:ext cx="10889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PROJECT</a:t>
            </a:r>
            <a:endParaRPr lang="en-IN" sz="44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18B5A8-E647-3F58-636B-D502339DE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319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lythrough/>
      </p:transition>
    </mc:Choice>
    <mc:Fallback xmlns="">
      <p:transition spd="slow" advTm="0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1FBBD-1B46-32BC-AEF5-5D51DDF9F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595" y="757518"/>
            <a:ext cx="8586379" cy="913966"/>
          </a:xfrm>
        </p:spPr>
        <p:txBody>
          <a:bodyPr/>
          <a:lstStyle/>
          <a:p>
            <a:pPr algn="ctr"/>
            <a:r>
              <a:rPr lang="en-US" sz="2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OF PROJECT</a:t>
            </a:r>
            <a:endParaRPr lang="en-IN" sz="28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577FE-A970-AA2E-6684-02284AC1D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1635" y="2064774"/>
            <a:ext cx="10488920" cy="5220929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Nuclear plants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Chemical industries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 affected zones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Helpful for older citizens and helping physically challenged people to move the objects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Hazardous Industrial works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time investment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human effort and increases productivity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F001F-0754-B454-D0B0-D63584380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74547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hlinkClick r:id="rId2" action="ppaction://hlinksldjump"/>
            <a:extLst>
              <a:ext uri="{FF2B5EF4-FFF2-40B4-BE49-F238E27FC236}">
                <a16:creationId xmlns:a16="http://schemas.microsoft.com/office/drawing/2014/main" id="{8B16C758-D4BE-BC39-14C0-BF2E6C610A71}"/>
              </a:ext>
            </a:extLst>
          </p:cNvPr>
          <p:cNvSpPr/>
          <p:nvPr/>
        </p:nvSpPr>
        <p:spPr>
          <a:xfrm>
            <a:off x="912018" y="619125"/>
            <a:ext cx="10367963" cy="5619750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3CB2E1-3CF6-FFA2-6F95-63120748BBE5}"/>
              </a:ext>
            </a:extLst>
          </p:cNvPr>
          <p:cNvSpPr txBox="1"/>
          <p:nvPr/>
        </p:nvSpPr>
        <p:spPr>
          <a:xfrm>
            <a:off x="651127" y="3013501"/>
            <a:ext cx="10889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i="0" kern="120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LIMITATIONS</a:t>
            </a:r>
            <a:endParaRPr lang="en-IN" sz="88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18B5A8-E647-3F58-636B-D502339DE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256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>
        <p14:flythrough/>
      </p:transition>
    </mc:Choice>
    <mc:Fallback xmlns="">
      <p:transition spd="slow" advTm="0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D0FAD-E8EC-50B6-C305-7F91CF9CB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196645"/>
            <a:ext cx="9401905" cy="1656603"/>
          </a:xfrm>
        </p:spPr>
        <p:txBody>
          <a:bodyPr/>
          <a:lstStyle/>
          <a:p>
            <a:pPr algn="ctr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Limitations</a:t>
            </a:r>
            <a:endParaRPr lang="en-IN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F36235-7B8B-0C58-710A-03084693A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2729" y="2052918"/>
            <a:ext cx="8946541" cy="4195481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Dependent on Lighting Conditions</a:t>
            </a:r>
          </a:p>
          <a:p>
            <a:pPr marL="342900" lvl="0" indent="-34290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Limited Gesture Recognition Accuracy</a:t>
            </a:r>
          </a:p>
          <a:p>
            <a:pPr marL="342900" lvl="0" indent="-34290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Limited Operating Range</a:t>
            </a:r>
          </a:p>
          <a:p>
            <a:pPr marL="342900" lvl="0" indent="-34290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Latency in Wireless Communication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6680F-5289-648E-AA5D-DC37372CA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04793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lumOff val="3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10FDDF-4AF3-9441-98D6-DA5400100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hlinkClick r:id="rId3" action="ppaction://hlinksldjump"/>
            <a:extLst>
              <a:ext uri="{FF2B5EF4-FFF2-40B4-BE49-F238E27FC236}">
                <a16:creationId xmlns:a16="http://schemas.microsoft.com/office/drawing/2014/main" id="{9730D57E-D0E4-7B8B-5639-FC91EB24CD45}"/>
              </a:ext>
            </a:extLst>
          </p:cNvPr>
          <p:cNvSpPr/>
          <p:nvPr/>
        </p:nvSpPr>
        <p:spPr>
          <a:xfrm>
            <a:off x="912018" y="619125"/>
            <a:ext cx="10367963" cy="5619750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7D1043-B7D8-0F92-B6F0-49EE158D4B14}"/>
              </a:ext>
            </a:extLst>
          </p:cNvPr>
          <p:cNvSpPr txBox="1"/>
          <p:nvPr/>
        </p:nvSpPr>
        <p:spPr>
          <a:xfrm>
            <a:off x="651127" y="3013501"/>
            <a:ext cx="10889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4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015CB2-96C0-C2A1-76B1-2FD4B55A0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9991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  <p:sndAc>
          <p:stSnd>
            <p:snd r:embed="rId2" name="coin.wav"/>
          </p:stSnd>
        </p:sndAc>
      </p:transition>
    </mc:Choice>
    <mc:Fallback xmlns="">
      <p:transition spd="slow">
        <p:fade/>
        <p:sndAc>
          <p:stSnd>
            <p:snd r:embed="rId4" name="coin.wav"/>
          </p:stSnd>
        </p:sndAc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E5BA95-DF49-445D-E38E-F360FA834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BC22AB-902A-DD31-024C-D226E43AAB90}"/>
              </a:ext>
            </a:extLst>
          </p:cNvPr>
          <p:cNvSpPr txBox="1"/>
          <p:nvPr/>
        </p:nvSpPr>
        <p:spPr>
          <a:xfrm>
            <a:off x="825910" y="1997839"/>
            <a:ext cx="1026487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 gesture-controlled robotic arm was successfully designed and implemented using computer vision and embedded systems. Hand gestures were detected in real time using a camera-based vision system.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MediaPipe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and OpenCV were used to extract hand landmarks and recognize gestures accurately. Recognized gestures were mapped to corresponding movements of the robotic arm. Python-based algorithms effectively controlled the microcontroller and servo motors. The system demonstrated smooth and responsive arm movement with minimal delay. Experimental testing confirmed reliable operation for basic pick-and-place tasks. The project validated the feasibility of gesture-based human–robot interaction. The modular design allows easy hardware and software expansion in the future. Overall, the system shows strong potential for automation and assistive applications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7E7A3F-7B6B-5596-1C8C-C75038CFFCA5}"/>
              </a:ext>
            </a:extLst>
          </p:cNvPr>
          <p:cNvSpPr txBox="1"/>
          <p:nvPr/>
        </p:nvSpPr>
        <p:spPr>
          <a:xfrm>
            <a:off x="3716593" y="872833"/>
            <a:ext cx="528975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8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444279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hlinkClick r:id="rId2" action="ppaction://hlinksldjump"/>
            <a:extLst>
              <a:ext uri="{FF2B5EF4-FFF2-40B4-BE49-F238E27FC236}">
                <a16:creationId xmlns:a16="http://schemas.microsoft.com/office/drawing/2014/main" id="{8B16C758-D4BE-BC39-14C0-BF2E6C610A71}"/>
              </a:ext>
            </a:extLst>
          </p:cNvPr>
          <p:cNvSpPr/>
          <p:nvPr/>
        </p:nvSpPr>
        <p:spPr>
          <a:xfrm>
            <a:off x="912018" y="619125"/>
            <a:ext cx="10367963" cy="5619750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3CB2E1-3CF6-FFA2-6F95-63120748BBE5}"/>
              </a:ext>
            </a:extLst>
          </p:cNvPr>
          <p:cNvSpPr txBox="1"/>
          <p:nvPr/>
        </p:nvSpPr>
        <p:spPr>
          <a:xfrm>
            <a:off x="651127" y="3013501"/>
            <a:ext cx="10889744" cy="8737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104140" lvl="1" algn="ctr">
              <a:lnSpc>
                <a:spcPct val="115000"/>
              </a:lnSpc>
              <a:spcBef>
                <a:spcPts val="795"/>
              </a:spcBef>
              <a:spcAft>
                <a:spcPts val="0"/>
              </a:spcAft>
              <a:buSzPts val="1200"/>
              <a:tabLst>
                <a:tab pos="243205" algn="l"/>
              </a:tabLst>
            </a:pPr>
            <a:r>
              <a:rPr lang="en-US" sz="4800" b="1" spc="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REFERENCES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18B5A8-E647-3F58-636B-D502339DE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905077"/>
      </p:ext>
    </p:extLst>
  </p:cSld>
  <p:clrMapOvr>
    <a:masterClrMapping/>
  </p:clrMapOvr>
  <p:transition spd="med" advTm="0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93B6B6-34EF-7A72-0F7F-CE649D5D6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924488-7C3F-EB9F-5561-06B09D62F611}"/>
              </a:ext>
            </a:extLst>
          </p:cNvPr>
          <p:cNvSpPr txBox="1"/>
          <p:nvPr/>
        </p:nvSpPr>
        <p:spPr>
          <a:xfrm>
            <a:off x="746437" y="700769"/>
            <a:ext cx="10561474" cy="5743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104140" lvl="1">
              <a:lnSpc>
                <a:spcPct val="115000"/>
              </a:lnSpc>
              <a:spcBef>
                <a:spcPts val="795"/>
              </a:spcBef>
              <a:spcAft>
                <a:spcPts val="0"/>
              </a:spcAft>
              <a:buSzPts val="1200"/>
              <a:tabLst>
                <a:tab pos="243205" algn="l"/>
              </a:tabLst>
            </a:pPr>
            <a:r>
              <a:rPr lang="en-US" sz="2800" b="1" spc="0" dirty="0">
                <a:solidFill>
                  <a:schemeClr val="accent3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                              </a:t>
            </a:r>
            <a:r>
              <a:rPr lang="en-US" sz="2800" b="1" spc="0" dirty="0">
                <a:solidFill>
                  <a:srgbClr val="FFFF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REFERENCES</a:t>
            </a:r>
          </a:p>
          <a:p>
            <a:pPr marR="104140" lvl="1" algn="ctr">
              <a:lnSpc>
                <a:spcPct val="115000"/>
              </a:lnSpc>
              <a:spcBef>
                <a:spcPts val="795"/>
              </a:spcBef>
              <a:spcAft>
                <a:spcPts val="0"/>
              </a:spcAft>
              <a:buSzPts val="1200"/>
              <a:tabLst>
                <a:tab pos="243205" algn="l"/>
              </a:tabLst>
            </a:pPr>
            <a:endParaRPr lang="en-US" sz="2400" b="1" spc="0" dirty="0">
              <a:solidFill>
                <a:schemeClr val="accent3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104140" lvl="1" indent="-285750" algn="just">
              <a:lnSpc>
                <a:spcPct val="115000"/>
              </a:lnSpc>
              <a:spcBef>
                <a:spcPts val="795"/>
              </a:spcBef>
              <a:spcAft>
                <a:spcPts val="0"/>
              </a:spcAft>
              <a:buSzPts val="1200"/>
              <a:buFont typeface="Times New Roman" panose="02020603050405020304" pitchFamily="18" charset="0"/>
              <a:buAutoNum type="arabicPeriod"/>
              <a:tabLst>
                <a:tab pos="243205" algn="l"/>
              </a:tabLst>
            </a:pPr>
            <a:r>
              <a:rPr lang="en-US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J. Paterson and A. </a:t>
            </a:r>
            <a:r>
              <a:rPr lang="en-US" sz="1800" spc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Aldabbagh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“Gesture-controlled robotic arm utilizing OpenCV,” in </a:t>
            </a:r>
            <a:r>
              <a:rPr lang="en-US" sz="1800" i="1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IEEE Xplore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2013.</a:t>
            </a:r>
            <a:endParaRPr lang="en-IN" sz="16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104140" lvl="1" indent="-285750" algn="just">
              <a:lnSpc>
                <a:spcPct val="115000"/>
              </a:lnSpc>
              <a:spcBef>
                <a:spcPts val="795"/>
              </a:spcBef>
              <a:spcAft>
                <a:spcPts val="0"/>
              </a:spcAft>
              <a:buSzPts val="1200"/>
              <a:buFont typeface="Times New Roman" panose="02020603050405020304" pitchFamily="18" charset="0"/>
              <a:buAutoNum type="arabicPeriod"/>
              <a:tabLst>
                <a:tab pos="243205" algn="l"/>
              </a:tabLst>
            </a:pPr>
            <a:r>
              <a:rPr lang="en-US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D. G. Michels et al., “Real-Time Hand Gesture Control of a Robotic Arm with Programmable Motion Memory,” </a:t>
            </a:r>
            <a:r>
              <a:rPr lang="en-US" sz="1800" i="1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22nd International Conference on Informatics in Control, Automation and Robotics (ICINCO 2025)</a:t>
            </a:r>
            <a:r>
              <a:rPr lang="en-US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IN" sz="16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104140" lvl="1" indent="-285750" algn="just">
              <a:lnSpc>
                <a:spcPct val="115000"/>
              </a:lnSpc>
              <a:spcBef>
                <a:spcPts val="795"/>
              </a:spcBef>
              <a:spcAft>
                <a:spcPts val="0"/>
              </a:spcAft>
              <a:buSzPts val="1200"/>
              <a:buFont typeface="Times New Roman" panose="02020603050405020304" pitchFamily="18" charset="0"/>
              <a:buAutoNum type="arabicPeriod"/>
              <a:tabLst>
                <a:tab pos="243205" algn="l"/>
              </a:tabLst>
            </a:pPr>
            <a:r>
              <a:rPr lang="en-IN" sz="1800" spc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Oudah</a:t>
            </a:r>
            <a:r>
              <a:rPr lang="en-IN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 M., Al-</a:t>
            </a:r>
            <a:r>
              <a:rPr lang="en-IN" sz="1800" spc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Naji</a:t>
            </a:r>
            <a:r>
              <a:rPr lang="en-IN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 A., &amp;  </a:t>
            </a:r>
            <a:r>
              <a:rPr lang="en-IN" sz="1800" spc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Chahl</a:t>
            </a:r>
            <a:r>
              <a:rPr lang="en-IN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J.  (2020). Hand  gesture recognition  based on  computer vision:  a  review  of techniques. journal of Imaging, 6(8), 73.</a:t>
            </a:r>
            <a:endParaRPr lang="en-IN" sz="16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104140" lvl="1" indent="-285750" algn="just">
              <a:lnSpc>
                <a:spcPct val="115000"/>
              </a:lnSpc>
              <a:spcBef>
                <a:spcPts val="795"/>
              </a:spcBef>
              <a:spcAft>
                <a:spcPts val="0"/>
              </a:spcAft>
              <a:buSzPts val="1200"/>
              <a:buFont typeface="Times New Roman" panose="02020603050405020304" pitchFamily="18" charset="0"/>
              <a:buAutoNum type="arabicPeriod"/>
              <a:tabLst>
                <a:tab pos="243205" algn="l"/>
              </a:tabLst>
            </a:pPr>
            <a:r>
              <a:rPr lang="en-IN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Chaitanya,  D.,  </a:t>
            </a:r>
            <a:r>
              <a:rPr lang="en-IN" sz="1800" spc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Suhasini</a:t>
            </a:r>
            <a:r>
              <a:rPr lang="en-IN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 Y.  A.,  &amp;  </a:t>
            </a:r>
            <a:r>
              <a:rPr lang="en-IN" sz="1800" spc="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Nagarjun</a:t>
            </a:r>
            <a:r>
              <a:rPr lang="en-IN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 G.  (2017).  Home  Appliances  Control  Based  on  Hand  Motion Gesture. International Journal of Emerging Technologies in Engineering Research, 5(11), 110-114.</a:t>
            </a:r>
            <a:endParaRPr lang="en-IN" sz="16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104140" lvl="1" indent="-285750" algn="just">
              <a:lnSpc>
                <a:spcPct val="115000"/>
              </a:lnSpc>
              <a:spcBef>
                <a:spcPts val="795"/>
              </a:spcBef>
              <a:spcAft>
                <a:spcPts val="0"/>
              </a:spcAft>
              <a:buSzPts val="1200"/>
              <a:buFont typeface="Times New Roman" panose="02020603050405020304" pitchFamily="18" charset="0"/>
              <a:buAutoNum type="arabicPeriod"/>
              <a:tabLst>
                <a:tab pos="243205" algn="l"/>
              </a:tabLst>
            </a:pPr>
            <a:r>
              <a:rPr lang="en-IN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Rao,  M.  An  integrated  system  design  interface  for  operating  8-DoF  robotic  arm.2021  The  21st International Conference on Control, Automation and Systems (ICCAS 2021) Ramada Plaza Hotel, Jeju, Korea, Oct. 12</a:t>
            </a:r>
            <a:r>
              <a:rPr lang="en-IN" sz="1800" spc="0" dirty="0">
                <a:effectLst/>
                <a:latin typeface="Cambria Math" panose="02040503050406030204" pitchFamily="18" charset="0"/>
                <a:ea typeface="Times New Roman" panose="02020603050405020304" pitchFamily="18" charset="0"/>
                <a:cs typeface="Cambria Math" panose="02040503050406030204" pitchFamily="18" charset="0"/>
              </a:rPr>
              <a:t>∼</a:t>
            </a:r>
            <a:r>
              <a:rPr lang="en-IN" sz="1800" spc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15, 2021</a:t>
            </a:r>
            <a:endParaRPr lang="en-IN" sz="1600" spc="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4768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lumOff val="3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10FDDF-4AF3-9441-98D6-DA5400100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hlinkClick r:id="rId3" action="ppaction://hlinksldjump"/>
            <a:extLst>
              <a:ext uri="{FF2B5EF4-FFF2-40B4-BE49-F238E27FC236}">
                <a16:creationId xmlns:a16="http://schemas.microsoft.com/office/drawing/2014/main" id="{9730D57E-D0E4-7B8B-5639-FC91EB24CD45}"/>
              </a:ext>
            </a:extLst>
          </p:cNvPr>
          <p:cNvSpPr/>
          <p:nvPr/>
        </p:nvSpPr>
        <p:spPr>
          <a:xfrm>
            <a:off x="912018" y="619125"/>
            <a:ext cx="10367963" cy="5619750"/>
          </a:xfrm>
          <a:prstGeom prst="round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bg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7D1043-B7D8-0F92-B6F0-49EE158D4B14}"/>
              </a:ext>
            </a:extLst>
          </p:cNvPr>
          <p:cNvSpPr txBox="1"/>
          <p:nvPr/>
        </p:nvSpPr>
        <p:spPr>
          <a:xfrm>
            <a:off x="651127" y="3013501"/>
            <a:ext cx="108897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4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015CB2-96C0-C2A1-76B1-2FD4B55A0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6374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  <p:sndAc>
          <p:stSnd>
            <p:snd r:embed="rId2" name="coin.wav"/>
          </p:stSnd>
        </p:sndAc>
      </p:transition>
    </mc:Choice>
    <mc:Fallback xmlns="">
      <p:transition spd="slow">
        <p:fade/>
        <p:sndAc>
          <p:stSnd>
            <p:snd r:embed="rId4" name="coin.wav"/>
          </p:stSnd>
        </p:sndAc>
      </p:transition>
    </mc:Fallback>
  </mc:AlternateContent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  <a:lumOff val="3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331F35-5B10-8354-3FE7-131B3B07F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D61E3E-509F-AE0C-E8EB-78D9C9573C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42" y="1650638"/>
            <a:ext cx="4506782" cy="39898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DA89AD7-99F5-9EA5-2DAA-C07DDBC80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5382" y="1681789"/>
            <a:ext cx="4865681" cy="39898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6746F2F-DB62-1322-E4FC-CF1009436F21}"/>
              </a:ext>
            </a:extLst>
          </p:cNvPr>
          <p:cNvSpPr txBox="1"/>
          <p:nvPr/>
        </p:nvSpPr>
        <p:spPr>
          <a:xfrm>
            <a:off x="1088250" y="5735104"/>
            <a:ext cx="3703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 LEFT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F99160-A477-E004-145D-DDF0B6C5011F}"/>
              </a:ext>
            </a:extLst>
          </p:cNvPr>
          <p:cNvSpPr txBox="1"/>
          <p:nvPr/>
        </p:nvSpPr>
        <p:spPr>
          <a:xfrm>
            <a:off x="7399852" y="5761366"/>
            <a:ext cx="31367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MOVE RIGHT</a:t>
            </a:r>
            <a:endParaRPr lang="en-IN" b="1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5326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10">
        <p159:morph option="byObject"/>
      </p:transition>
    </mc:Choice>
    <mc:Fallback xmlns="">
      <p:transition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1481</TotalTime>
  <Words>1259</Words>
  <Application>Microsoft Office PowerPoint</Application>
  <PresentationFormat>Widescreen</PresentationFormat>
  <Paragraphs>247</Paragraphs>
  <Slides>35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6" baseType="lpstr">
      <vt:lpstr>Arial</vt:lpstr>
      <vt:lpstr>Calibri</vt:lpstr>
      <vt:lpstr>Cambria Math</vt:lpstr>
      <vt:lpstr>Century Gothic</vt:lpstr>
      <vt:lpstr>Consolas</vt:lpstr>
      <vt:lpstr>Courier New</vt:lpstr>
      <vt:lpstr>Symbol</vt:lpstr>
      <vt:lpstr>Times New Roman</vt:lpstr>
      <vt:lpstr>Wingdings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WORKING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APPLICATIONS OF PROJECT</vt:lpstr>
      <vt:lpstr>PowerPoint Presentation</vt:lpstr>
      <vt:lpstr> Limitations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vivek kudalkar</dc:creator>
  <cp:lastModifiedBy>dell.2z05ky3@outlook.com</cp:lastModifiedBy>
  <cp:revision>39</cp:revision>
  <dcterms:created xsi:type="dcterms:W3CDTF">2025-10-28T16:44:50Z</dcterms:created>
  <dcterms:modified xsi:type="dcterms:W3CDTF">2025-12-29T02:52:29Z</dcterms:modified>
</cp:coreProperties>
</file>